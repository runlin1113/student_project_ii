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2.xml"/><Relationship Id="rId8" Type="http://schemas.openxmlformats.org/officeDocument/2006/relationships/tags" Target="../tags/tag11.xml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tags" Target="../tags/tag7.xml"/><Relationship Id="rId3" Type="http://schemas.openxmlformats.org/officeDocument/2006/relationships/tags" Target="../tags/tag6.xml"/><Relationship Id="rId25" Type="http://schemas.openxmlformats.org/officeDocument/2006/relationships/slideLayout" Target="../slideLayouts/slideLayout1.xml"/><Relationship Id="rId24" Type="http://schemas.openxmlformats.org/officeDocument/2006/relationships/tags" Target="../tags/tag27.xml"/><Relationship Id="rId23" Type="http://schemas.openxmlformats.org/officeDocument/2006/relationships/tags" Target="../tags/tag26.xml"/><Relationship Id="rId22" Type="http://schemas.openxmlformats.org/officeDocument/2006/relationships/tags" Target="../tags/tag25.xml"/><Relationship Id="rId21" Type="http://schemas.openxmlformats.org/officeDocument/2006/relationships/tags" Target="../tags/tag24.xml"/><Relationship Id="rId20" Type="http://schemas.openxmlformats.org/officeDocument/2006/relationships/tags" Target="../tags/tag23.xml"/><Relationship Id="rId2" Type="http://schemas.openxmlformats.org/officeDocument/2006/relationships/tags" Target="../tags/tag5.xml"/><Relationship Id="rId19" Type="http://schemas.openxmlformats.org/officeDocument/2006/relationships/tags" Target="../tags/tag22.xml"/><Relationship Id="rId18" Type="http://schemas.openxmlformats.org/officeDocument/2006/relationships/tags" Target="../tags/tag21.xml"/><Relationship Id="rId17" Type="http://schemas.openxmlformats.org/officeDocument/2006/relationships/tags" Target="../tags/tag20.xml"/><Relationship Id="rId16" Type="http://schemas.openxmlformats.org/officeDocument/2006/relationships/tags" Target="../tags/tag19.xml"/><Relationship Id="rId15" Type="http://schemas.openxmlformats.org/officeDocument/2006/relationships/tags" Target="../tags/tag18.xml"/><Relationship Id="rId14" Type="http://schemas.openxmlformats.org/officeDocument/2006/relationships/tags" Target="../tags/tag17.xml"/><Relationship Id="rId13" Type="http://schemas.openxmlformats.org/officeDocument/2006/relationships/tags" Target="../tags/tag16.xml"/><Relationship Id="rId12" Type="http://schemas.openxmlformats.org/officeDocument/2006/relationships/tags" Target="../tags/tag15.xml"/><Relationship Id="rId11" Type="http://schemas.openxmlformats.org/officeDocument/2006/relationships/tags" Target="../tags/tag14.xml"/><Relationship Id="rId10" Type="http://schemas.openxmlformats.org/officeDocument/2006/relationships/tags" Target="../tags/tag13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padding=&quot;0&quot; style={{ background: '#0E3F8C' }}&gt;&#10;  {/* 左侧主蓝块 */}&#10;  &lt;Box style={{ position: 'absolute', left: 0, top: 0, width: 14, height: 720, background: '#1E4FA8' }} /&gt;&#10;  {/* 装饰：右上低透明线稿圆 */}&#10;  &lt;Box style={{ position: 'absolute', right: 60, top: 60, width: 300, height: 300, borderRadius: '50%', border: '2px solid rgba(255,255,255,0.12)' }} /&gt;&#10;  &lt;Box style={{ position: 'absolute', right: 180, bottom: 80, width: 200, height: 200, borderRadius: '50%', border: '2px solid rgba(255,255,255,0.08)' }} /&gt;&#10;&#10;  &lt;Box style={{ flexDirection: 'column', justifyContent: 'center', height: '100%', paddingLeft: 96, paddingRight: 80, gap: 28 }}&gt;&#10;    &lt;Text style={{ fontSize: 20, color: 'rgba(255,255,255,0.7)', letterSpacing: 4, fontFamily: 'Microsoft YaHei' }}&gt;PROJECT PRACTICE · WEEK 3&lt;/Text&gt;&#10;    &lt;Text style={{ fontSize: 30, color: '#FFFFFF', fontWeight: 'bold', fontFamily: 'Microsoft YaHei' }}&gt;&#10;      智能体推理 &lt;span style={{ fontWeight: 'normal', color: 'rgba(255,255,255,0.65)' }}&gt;×&lt;/span&gt; 数据模拟&#10;    &lt;/Text&gt;&#10;    &lt;Text style={{ fontSize: 64, color: '#FFFFFF', fontWeight: 'bold', lineHeight: 1.15, fontFamily: 'Microsoft YaHei' }}&gt;&#10;      STAR 学术汇报&#10;    &lt;/Text&gt;&#10;    &lt;Box style={{ width: 120, height: 4, background: '#E8EFF8', marginTop: 8 }} /&gt;&#10;    &lt;Text style={{ fontSize: 22, color: 'rgba(255,255,255,0.82)', lineHeight: 1.7, fontFamily: 'Microsoft YaHei' }}&gt;&#10;      以 STAR 框架，用 1–2 分钟讲清我第三周的工作：&lt;br /&gt;&#10;      为什么做、要做什么、怎么做的、做出了什么、下一步。&#10;    &lt;/Text&gt;&#10;    &lt;Box style={{ flexDirection: 'row', gap: 40, marginTop: 12 }}&gt;&#10;      &lt;Text style={{ fontSize: 18, color: 'rgba(255,255,255,0.75)', fontFamily: 'Microsoft YaHei' }}&gt;汇报人：凌润林&lt;/Text&gt;&#10;      &lt;Text style={{ fontSize: 18, color: 'rgba(255,255,255,0.75)', fontFamily: 'Microsoft YaHei' }}&gt;2026.09.21&lt;/Text&gt;&#10;    &lt;/Box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3" name="文本框 2" descr="{&quot;isTemplate&quot;:true,&quot;type&quot;:&quot;text&quot;}"/>
          <p:cNvSpPr txBox="1"/>
          <p:nvPr/>
        </p:nvSpPr>
        <p:spPr>
          <a:xfrm>
            <a:off x="914400" y="1409700"/>
            <a:ext cx="105156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3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PROJECT PRACTICE · WEEK 3</a:t>
            </a:r>
            <a:endParaRPr lang="en-US" sz="1500" spc="30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 descr="{&quot;isTemplate&quot;:true,&quot;type&quot;:&quot;text&quot;}"/>
          <p:cNvSpPr txBox="1"/>
          <p:nvPr/>
        </p:nvSpPr>
        <p:spPr>
          <a:xfrm>
            <a:off x="914400" y="1905000"/>
            <a:ext cx="1051560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智能体推理</a:t>
            </a: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sz="2250">
                <a:solidFill>
                  <a:srgbClr val="FFFFFF">
                    <a:alpha val="6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×</a:t>
            </a: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数据模拟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 descr="{&quot;isTemplate&quot;:true,&quot;type&quot;:&quot;text&quot;}"/>
          <p:cNvSpPr txBox="1"/>
          <p:nvPr/>
        </p:nvSpPr>
        <p:spPr>
          <a:xfrm>
            <a:off x="914400" y="2514600"/>
            <a:ext cx="10515600" cy="8477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48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文献调研汇报</a:t>
            </a:r>
            <a:endParaRPr lang="zh-CN" sz="48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14400" y="3705225"/>
            <a:ext cx="1143000" cy="381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4010025"/>
            <a:ext cx="10515600" cy="8572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70000"/>
              </a:lnSpc>
            </a:pPr>
            <a:endParaRPr lang="zh-CN" sz="1650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5248275"/>
            <a:ext cx="12001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汇报人：凌润林</a:t>
            </a:r>
            <a:endParaRPr lang="zh-CN" sz="135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2495550" y="5248275"/>
            <a:ext cx="89535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2026.09.22</a:t>
            </a:r>
            <a:endParaRPr lang="en-US" sz="135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1" name="任意多边形 10"/>
          <p:cNvSpPr/>
          <p:nvPr/>
        </p:nvSpPr>
        <p:spPr>
          <a:xfrm>
            <a:off x="8763000" y="571500"/>
            <a:ext cx="2857500" cy="2857500"/>
          </a:xfrm>
          <a:custGeom>
            <a:avLst/>
            <a:gdLst/>
            <a:ahLst/>
            <a:cxnLst/>
            <a:pathLst>
              <a:path w="300" h="300">
                <a:moveTo>
                  <a:pt x="150" y="0"/>
                </a:moveTo>
                <a:lnTo>
                  <a:pt x="150" y="0"/>
                </a:lnTo>
                <a:cubicBezTo>
                  <a:pt x="233" y="0"/>
                  <a:pt x="300" y="67"/>
                  <a:pt x="300" y="150"/>
                </a:cubicBezTo>
                <a:lnTo>
                  <a:pt x="300" y="150"/>
                </a:lnTo>
                <a:cubicBezTo>
                  <a:pt x="300" y="233"/>
                  <a:pt x="233" y="300"/>
                  <a:pt x="150" y="300"/>
                </a:cubicBezTo>
                <a:lnTo>
                  <a:pt x="150" y="300"/>
                </a:lnTo>
                <a:cubicBezTo>
                  <a:pt x="67" y="300"/>
                  <a:pt x="0" y="233"/>
                  <a:pt x="0" y="150"/>
                </a:cubicBezTo>
                <a:lnTo>
                  <a:pt x="0" y="150"/>
                </a:ln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ln w="254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任意多边形 11"/>
          <p:cNvSpPr/>
          <p:nvPr/>
        </p:nvSpPr>
        <p:spPr>
          <a:xfrm>
            <a:off x="8572500" y="4191000"/>
            <a:ext cx="1905000" cy="1905000"/>
          </a:xfrm>
          <a:custGeom>
            <a:avLst/>
            <a:gdLst/>
            <a:ahLst/>
            <a:cxnLst/>
            <a:pathLst>
              <a:path w="200" h="200">
                <a:moveTo>
                  <a:pt x="100" y="0"/>
                </a:moveTo>
                <a:lnTo>
                  <a:pt x="100" y="0"/>
                </a:lnTo>
                <a:cubicBezTo>
                  <a:pt x="155" y="0"/>
                  <a:pt x="200" y="45"/>
                  <a:pt x="200" y="100"/>
                </a:cubicBezTo>
                <a:lnTo>
                  <a:pt x="200" y="100"/>
                </a:lnTo>
                <a:cubicBezTo>
                  <a:pt x="200" y="155"/>
                  <a:pt x="155" y="200"/>
                  <a:pt x="100" y="200"/>
                </a:cubicBezTo>
                <a:lnTo>
                  <a:pt x="100" y="200"/>
                </a:lnTo>
                <a:cubicBezTo>
                  <a:pt x="45" y="200"/>
                  <a:pt x="0" y="155"/>
                  <a:pt x="0" y="100"/>
                </a:cubicBezTo>
                <a:lnTo>
                  <a:pt x="0" y="100"/>
                </a:lnTo>
                <a:cubicBezTo>
                  <a:pt x="0" y="45"/>
                  <a:pt x="45" y="0"/>
                  <a:pt x="100" y="0"/>
                </a:cubicBezTo>
                <a:close/>
              </a:path>
            </a:pathLst>
          </a:custGeom>
          <a:ln w="254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" name="" descr="&lt;Slide padding=&quot;0&quot; style={{ background: '#FFFFFF' }}&gt;&#10;  {/* A3 页眉：深蓝顶条 */}&#10;  &lt;Box style={{ position: 'absolute', left: 0, top: 0, width: 1280, height: 88, background: '#0E3F8C' }} /&gt;&#10;  &lt;Text style={{ position: 'absolute', left: 40, top: 28, fontSize: 30, fontWeight: 'bold', color: '#FFFFFF', fontFamily: 'Microsoft YaHei' }}&gt;S · 情境&lt;/Text&gt;&#10;  &lt;Text style={{ position: 'absolute', right: 40, top: 32, fontSize: 16, color: 'rgba(255,255,255,0.7)', fontFamily: 'Microsoft YaHei' }}&gt;为什么做这件事&lt;/Text&gt;&#10;&#10;  {/* 左标题栏 60% / 右内容 40% 非对称双栏 */}&#10;  &lt;Box style={{ flexDirection: 'row', height: '100%', paddingTop: 88 }}&gt;&#10;    {/* 左：大陈述 */}&#10;    &lt;Box style={{ width: '58%', justifyContent: 'center', paddingLeft: 48, paddingRight: 40, gap: 24 }}&gt;&#10;      &lt;Text style={{ fontSize: 52, fontWeight: 'bold', color: '#1E4FA8', lineHeight: 1.25, fontFamily: 'Microsoft YaHei' }}&gt;&#10;        现实的高质量&lt;br /&gt;指令数据，&lt;br /&gt;极难获取。&#10;      &lt;/Text&gt;&#10;      &lt;Box style={{ width: 100, height: 4, background: '#1E4FA8' }} /&gt;&#10;      &lt;Text style={{ fontSize: 20, color: '#8B97A8', fontFamily: 'Microsoft YaHei' }}&gt;这是整个工作的起点矛盾。&lt;/Text&gt;&#10;    &lt;/Box&gt;&#10;    {/* 右：痛点卡 */}&#10;    &lt;Box style={{ flex: 1, justifyContent: 'center', paddingRight: 48, gap: 18 }}&gt;&#10;      &lt;Box style={{ background: '#F0F5FC', border: '1px solid #D6DCE5', borderRadius: 10, padding: 22, gap: 10 }}&gt;&#10;        &lt;Text style={{ fontSize: 22, fontWeight: 'bold', color: '#0E3F8C', fontFamily: 'Microsoft YaHei' }}&gt;① 隐私敏感&lt;/Text&gt;&#10;        &lt;Text style={{ fontSize: 18, color: '#4A5568', lineHeight: 1.6, fontFamily: 'Microsoft YaHei' }}&gt;真实业务指令常含隐私，难以直接采集与公开。&lt;/Text&gt;&#10;      &lt;/Box&gt;&#10;      &lt;Box style={{ background: '#F0F5FC', border: '1px solid #D6DCE5', borderRadius: 10, padding: 22, gap: 10 }}&gt;&#10;        &lt;Text style={{ fontSize: 22, fontWeight: 'bold', color: '#0E3F8C', fontFamily: 'Microsoft YaHei' }}&gt;② 样本稀缺&lt;/Text&gt;&#10;        &lt;Text style={{ fontSize: 18, color: '#4A5568', lineHeight: 1.6, fontFamily: 'Microsoft YaHei' }}&gt;面向智能体的高质量轨迹天然稀少，覆盖不全。&lt;/Text&gt;&#10;      &lt;/Box&gt;&#10;      &lt;Box style={{ background: '#F0F5FC', border: '1px solid #D6DCE5', borderRadius: 10, padding: 22, gap: 10 }}&gt;&#10;        &lt;Text style={{ fontSize: 22, fontWeight: 'bold', color: '#0E3F8C', fontFamily: 'Microsoft YaHei' }}&gt;③ 标注昂贵&lt;/Text&gt;&#10;        &lt;Text style={{ fontSize: 18, color: '#4A5568', lineHeight: 1.6, fontFamily: 'Microsoft YaHei' }}&gt;人工构造与标注成本高，难以规模化扩张。&lt;/Text&gt;&#10;      &lt;/Box&gt;&#10;    &lt;/Box&gt;&#10;  &lt;/Box&gt;&#10;&#10;  {/* D 页脚 */}&#10;  &lt;Text style={{ position: 'absolute', right: 40, bottom: 18, fontSize: 14, color: '#8B97A8', fontFamily: 'Microsoft YaHei' }}&gt;02 / 06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5" name="文本框 14" descr="{&quot;isTemplate&quot;:true,&quot;type&quot;:&quot;text&quot;}"/>
          <p:cNvSpPr txBox="1"/>
          <p:nvPr/>
        </p:nvSpPr>
        <p:spPr>
          <a:xfrm>
            <a:off x="381000" y="1582420"/>
            <a:ext cx="6235065" cy="3070860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25000"/>
              </a:lnSpc>
            </a:pPr>
            <a:r>
              <a:rPr lang="en-US" altLang="zh-CN" sz="3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“</a:t>
            </a:r>
            <a:r>
              <a:rPr lang="zh-CN" altLang="en-US" sz="3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智能体的数据模拟</a:t>
            </a:r>
            <a:endParaRPr lang="zh-CN" altLang="en-US" sz="3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l">
              <a:lnSpc>
                <a:spcPct val="125000"/>
              </a:lnSpc>
            </a:pPr>
            <a:r>
              <a:rPr lang="zh-CN" altLang="en-US" sz="3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是我们这个项目</a:t>
            </a:r>
            <a:endParaRPr lang="zh-CN" altLang="en-US" sz="3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l">
              <a:lnSpc>
                <a:spcPct val="125000"/>
              </a:lnSpc>
            </a:pPr>
            <a:r>
              <a:rPr lang="zh-CN" altLang="en-US" sz="3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成败的关键 </a:t>
            </a:r>
            <a:endParaRPr lang="zh-CN" altLang="en-US" sz="3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indent="457200" algn="l">
              <a:lnSpc>
                <a:spcPct val="125000"/>
              </a:lnSpc>
            </a:pPr>
            <a:r>
              <a:rPr lang="zh-CN" altLang="en-US" sz="3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先看看最近的进展</a:t>
            </a:r>
            <a:r>
              <a:rPr lang="en-US" altLang="zh-CN" sz="3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”</a:t>
            </a:r>
            <a:r>
              <a:rPr lang="zh-CN" sz="39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39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57200" y="4829175"/>
            <a:ext cx="952500" cy="381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7" name="文本框 16" descr="{&quot;isTemplate&quot;:true,&quot;type&quot;:&quot;text&quot;}"/>
          <p:cNvSpPr txBox="1"/>
          <p:nvPr/>
        </p:nvSpPr>
        <p:spPr>
          <a:xfrm>
            <a:off x="457200" y="5043170"/>
            <a:ext cx="62293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这是整个工作的指引。</a:t>
            </a:r>
            <a:r>
              <a:rPr lang="zh-CN" altLang="en-US" sz="15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智能体的预训练需要轨迹，</a:t>
            </a:r>
            <a:endParaRPr lang="zh-CN" altLang="en-US" sz="15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50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后训练又需要环境。</a:t>
            </a:r>
            <a:endParaRPr lang="zh-CN" sz="150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7067550" y="2019300"/>
            <a:ext cx="4667250" cy="1104900"/>
          </a:xfrm>
          <a:prstGeom prst="roundRect">
            <a:avLst>
              <a:gd name="adj" fmla="val 86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19" name="文本框 18" descr="{&quot;isTemplate&quot;:true,&quot;type&quot;:&quot;text&quot;}"/>
          <p:cNvSpPr txBox="1"/>
          <p:nvPr/>
        </p:nvSpPr>
        <p:spPr>
          <a:xfrm>
            <a:off x="7277100" y="2228850"/>
            <a:ext cx="4248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①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隐私敏感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 descr="{&quot;isTemplate&quot;:true,&quot;type&quot;:&quot;text&quot;}"/>
          <p:cNvSpPr txBox="1"/>
          <p:nvPr/>
        </p:nvSpPr>
        <p:spPr>
          <a:xfrm>
            <a:off x="7277100" y="2581275"/>
            <a:ext cx="42481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真实业务指令常含隐私，难以直接采集与公开。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7067550" y="3295650"/>
            <a:ext cx="4667250" cy="1104900"/>
          </a:xfrm>
          <a:prstGeom prst="roundRect">
            <a:avLst>
              <a:gd name="adj" fmla="val 86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2" name="文本框 21" descr="{&quot;isTemplate&quot;:true,&quot;type&quot;:&quot;text&quot;}"/>
          <p:cNvSpPr txBox="1"/>
          <p:nvPr/>
        </p:nvSpPr>
        <p:spPr>
          <a:xfrm>
            <a:off x="7277100" y="3505200"/>
            <a:ext cx="4248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②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样本稀缺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文本框 22" descr="{&quot;isTemplate&quot;:true,&quot;type&quot;:&quot;text&quot;}"/>
          <p:cNvSpPr txBox="1"/>
          <p:nvPr/>
        </p:nvSpPr>
        <p:spPr>
          <a:xfrm>
            <a:off x="7277100" y="3857625"/>
            <a:ext cx="42481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面向智能体的高质量轨迹天然稀少，覆盖不全。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圆角矩形 23"/>
          <p:cNvSpPr/>
          <p:nvPr/>
        </p:nvSpPr>
        <p:spPr>
          <a:xfrm>
            <a:off x="7067550" y="4572000"/>
            <a:ext cx="4667250" cy="1104900"/>
          </a:xfrm>
          <a:prstGeom prst="roundRect">
            <a:avLst>
              <a:gd name="adj" fmla="val 86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5" name="文本框 24" descr="{&quot;isTemplate&quot;:true,&quot;type&quot;:&quot;text&quot;}"/>
          <p:cNvSpPr txBox="1"/>
          <p:nvPr/>
        </p:nvSpPr>
        <p:spPr>
          <a:xfrm>
            <a:off x="7277100" y="4781550"/>
            <a:ext cx="42481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③ </a:t>
            </a: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标注昂贵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文本框 25" descr="{&quot;isTemplate&quot;:true,&quot;type&quot;:&quot;text&quot;}"/>
          <p:cNvSpPr txBox="1"/>
          <p:nvPr/>
        </p:nvSpPr>
        <p:spPr>
          <a:xfrm>
            <a:off x="7277100" y="5133975"/>
            <a:ext cx="42481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人工构造与标注成本高，难以规模化扩张。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28" name="文本框 27" descr="{&quot;isTemplate&quot;:true,&quot;type&quot;:&quot;text&quot;}"/>
          <p:cNvSpPr txBox="1"/>
          <p:nvPr/>
        </p:nvSpPr>
        <p:spPr>
          <a:xfrm>
            <a:off x="381000" y="266700"/>
            <a:ext cx="10477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S · 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情境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 descr="{&quot;isTemplate&quot;:true,&quot;type&quot;:&quot;text&quot;}"/>
          <p:cNvSpPr txBox="1"/>
          <p:nvPr/>
        </p:nvSpPr>
        <p:spPr>
          <a:xfrm>
            <a:off x="11353800" y="65246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02 / 06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10896600" y="30480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为什么要做</a:t>
            </a:r>
            <a:endParaRPr lang="zh-CN" sz="120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1" name="" descr="&lt;Slide padding=&quot;0&quot; style={{ background: '#FFFFFF' }}&gt;&#10;  &lt;Box style={{ position: 'absolute', left: 0, top: 0, width: 1280, height: 88, background: '#0E3F8C' }} /&gt;&#10;  &lt;Text style={{ position: 'absolute', left: 40, top: 28, fontSize: 30, fontWeight: 'bold', color: '#FFFFFF', fontFamily: 'Microsoft YaHei' }}&gt;T · 任务&lt;/Text&gt;&#10;  &lt;Text style={{ position: 'absolute', right: 40, top: 32, fontSize: 16, color: 'rgba(255,255,255,0.7)', fontFamily: 'Microsoft YaHei' }}&gt;我要做成什么&lt;/Text&gt;&#10;&#10;  &lt;Box style={{ flexDirection: 'row', height: '100%', paddingTop: 88 }}&gt;&#10;    {/* 左：藏蓝实色任务块（全篇仅 1 张深蓝实色卡） */}&#10;    &lt;Box style={{ width: '38%', justifyContent: 'center', paddingLeft: 48, paddingRight: 32, gap: 22 }}&gt;&#10;      &lt;Box style={{ background: '#0E3F8C', borderRadius: 12, padding: 32, gap: 18 }}&gt;&#10;        &lt;Text style={{ fontSize: 22, color: 'rgba(255,255,255,0.75)', fontFamily: 'Microsoft YaHei' }}&gt;核心任务&lt;/Text&gt;&#10;        &lt;Text style={{ fontSize: 38, fontWeight: 'bold', color: '#FFFFFF', lineHeight: 1.35, fontFamily: 'Microsoft YaHei' }}&gt;&#10;          建立体系认识，&lt;br /&gt;沉淀方法论资料。&#10;        &lt;/Text&gt;&#10;        &lt;Text style={{ fontSize: 17, color: 'rgba(255,255,255,0.7)', lineHeight: 1.6, fontFamily: 'Microsoft YaHei' }}&gt;不追求一次做全，先把&quot;是什么、怎么做&quot;想清楚、写下来。&lt;/Text&gt;&#10;      &lt;/Box&gt;&#10;    &lt;/Box&gt;&#10;    {/* 右：三目标卡 */}&#10;    &lt;Box style={{ flex: 1, justifyContent: 'center', paddingRight: 48, paddingLeft: 24, gap: 18 }}&gt;&#10;      &lt;Box style={{ background: '#F0F5FC', border: '1px solid #D6DCE5', borderRadius: 10, padding: 22, gap: 8 }}&gt;&#10;        &lt;Text style={{ fontSize: 24, fontWeight: 'bold', color: '#1E4FA8', fontFamily: 'Microsoft YaHei' }}&gt;厘清概念&lt;/Text&gt;&#10;        &lt;Text style={{ fontSize: 18, color: '#4A5568', lineHeight: 1.6, fontFamily: 'Microsoft YaHei' }}&gt;分清环境复用 / 环境合成 / 轨迹生成三条路线的边界与关系。&lt;/Text&gt;&#10;      &lt;/Box&gt;&#10;      &lt;Box style={{ background: '#F0F5FC', border: '1px solid #D6DCE5', borderRadius: 10, padding: 22, gap: 8 }}&gt;&#10;        &lt;Text style={{ fontSize: 24, fontWeight: 'bold', color: '#1E4FA8', fontFamily: 'Microsoft YaHei' }}&gt;摸清方法&lt;/Text&gt;&#10;        &lt;Text style={{ fontSize: 18, color: '#4A5568', lineHeight: 1.6, fontFamily: 'Microsoft YaHei' }}&gt;调研主流数据模拟方法，理解其原理、适用与局限。&lt;/Text&gt;&#10;      &lt;/Box&gt;&#10;      &lt;Box style={{ background: '#F0F5FC', border: '1px solid #D6DCE5', borderRadius: 10, padding: 22, gap: 8 }}&gt;&#10;        &lt;Text style={{ fontSize: 24, fontWeight: 'bold', color: '#1E4FA8', fontFamily: 'Microsoft YaHei' }}&gt;落到工程&lt;/Text&gt;&#10;        &lt;Text style={{ fontSize: 18, color: '#4A5568', lineHeight: 1.6, fontFamily: 'Microsoft YaHei' }}&gt;把认识整理为可复用的名词表、方法集与文献落位。&lt;/Text&gt;&#10;      &lt;/Box&gt;&#10;    &lt;/Box&gt;&#10;  &lt;/Box&gt;&#10;&#10;  &lt;Text style={{ position: 'absolute', right: 40, bottom: 18, fontSize: 14, color: '#8B97A8', fontFamily: 'Microsoft YaHei' }}&gt;03 / 06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3" name="圆角矩形 32"/>
          <p:cNvSpPr/>
          <p:nvPr/>
        </p:nvSpPr>
        <p:spPr>
          <a:xfrm>
            <a:off x="457200" y="2343150"/>
            <a:ext cx="3867150" cy="3019425"/>
          </a:xfrm>
          <a:prstGeom prst="roundRect">
            <a:avLst>
              <a:gd name="adj" fmla="val 3785"/>
            </a:avLst>
          </a:prstGeom>
          <a:solidFill>
            <a:srgbClr val="0E3F8C"/>
          </a:solidFill>
        </p:spPr>
        <p:txBody>
          <a:bodyPr/>
          <a:p/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762000" y="2647950"/>
            <a:ext cx="3257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>
                    <a:alpha val="7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核心任务</a:t>
            </a:r>
            <a:endParaRPr lang="zh-CN" sz="1650">
              <a:solidFill>
                <a:srgbClr val="FFFFFF">
                  <a:alpha val="7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 descr="{&quot;isTemplate&quot;:true,&quot;type&quot;:&quot;text&quot;}"/>
          <p:cNvSpPr txBox="1"/>
          <p:nvPr/>
        </p:nvSpPr>
        <p:spPr>
          <a:xfrm>
            <a:off x="762000" y="3076575"/>
            <a:ext cx="3257550" cy="1181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建立体系认识，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28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调研前沿文献。</a:t>
            </a:r>
            <a:endParaRPr lang="zh-CN" sz="28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762000" y="4429125"/>
            <a:ext cx="325755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先了解智能体、推理、数据模拟。</a:t>
            </a:r>
            <a:endParaRPr lang="zh-CN" sz="127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再读相关的文献</a:t>
            </a:r>
            <a:endParaRPr lang="en-US" altLang="zh-CN" sz="1275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圆角矩形 36"/>
          <p:cNvSpPr/>
          <p:nvPr/>
        </p:nvSpPr>
        <p:spPr>
          <a:xfrm>
            <a:off x="4857750" y="2019300"/>
            <a:ext cx="6877050" cy="1104900"/>
          </a:xfrm>
          <a:prstGeom prst="roundRect">
            <a:avLst>
              <a:gd name="adj" fmla="val 86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5067300" y="2228850"/>
            <a:ext cx="6457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厘清概念</a:t>
            </a:r>
            <a:endParaRPr lang="zh-CN"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 descr="{&quot;isTemplate&quot;:true,&quot;type&quot;:&quot;text&quot;}"/>
          <p:cNvSpPr txBox="1"/>
          <p:nvPr/>
        </p:nvSpPr>
        <p:spPr>
          <a:xfrm>
            <a:off x="5067300" y="2581275"/>
            <a:ext cx="64579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了解智能体组成与训练，推理的步骤，数据模拟的定义与作用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4857750" y="3295650"/>
            <a:ext cx="6877050" cy="1104900"/>
          </a:xfrm>
          <a:prstGeom prst="roundRect">
            <a:avLst>
              <a:gd name="adj" fmla="val 86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5067300" y="3505200"/>
            <a:ext cx="6457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摸清方法</a:t>
            </a:r>
            <a:endParaRPr lang="zh-CN"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 descr="{&quot;isTemplate&quot;:true,&quot;type&quot;:&quot;text&quot;}"/>
          <p:cNvSpPr txBox="1"/>
          <p:nvPr/>
        </p:nvSpPr>
        <p:spPr>
          <a:xfrm>
            <a:off x="5067300" y="3857625"/>
            <a:ext cx="64579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调研主流数据模拟方法</a:t>
            </a:r>
            <a:r>
              <a: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与评估手段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sz="1350">
                <a:solidFill>
                  <a:srgbClr val="4A5568"/>
                </a:solidFill>
                <a:latin typeface="微软雅黑" charset="0"/>
                <a:ea typeface="微软雅黑" charset="0"/>
              </a:rPr>
              <a:t>将其进行分类</a:t>
            </a:r>
            <a:r>
              <a:rPr lang="zh-CN" altLang="en-US" sz="1350">
                <a:solidFill>
                  <a:srgbClr val="4A5568"/>
                </a:solidFill>
                <a:latin typeface="微软雅黑" charset="0"/>
                <a:ea typeface="微软雅黑" charset="0"/>
              </a:rPr>
              <a:t>，找出与项目关联度高的方法</a:t>
            </a: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圆角矩形 42"/>
          <p:cNvSpPr/>
          <p:nvPr/>
        </p:nvSpPr>
        <p:spPr>
          <a:xfrm>
            <a:off x="4857750" y="4572000"/>
            <a:ext cx="6877050" cy="1104900"/>
          </a:xfrm>
          <a:prstGeom prst="roundRect">
            <a:avLst>
              <a:gd name="adj" fmla="val 8621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44" name="文本框 43" descr="{&quot;isTemplate&quot;:true,&quot;type&quot;:&quot;text&quot;}"/>
          <p:cNvSpPr txBox="1"/>
          <p:nvPr/>
        </p:nvSpPr>
        <p:spPr>
          <a:xfrm>
            <a:off x="5067300" y="4781550"/>
            <a:ext cx="64579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成果汇报</a:t>
            </a:r>
            <a:endParaRPr lang="zh-CN" sz="18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 descr="{&quot;isTemplate&quot;:true,&quot;type&quot;:&quot;text&quot;}"/>
          <p:cNvSpPr txBox="1"/>
          <p:nvPr/>
        </p:nvSpPr>
        <p:spPr>
          <a:xfrm>
            <a:off x="5067300" y="5133975"/>
            <a:ext cx="645795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将调研的数据、论文进行可视化：编写项目日志、</a:t>
            </a:r>
            <a:r>
              <a: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制作</a:t>
            </a:r>
            <a:r>
              <a:rPr lang="en-US" alt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ppt</a:t>
            </a:r>
            <a:r>
              <a:rPr lang="zh-CN" altLang="en-US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、网页展示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矩形 45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47" name="文本框 46" descr="{&quot;isTemplate&quot;:true,&quot;type&quot;:&quot;text&quot;}"/>
          <p:cNvSpPr txBox="1"/>
          <p:nvPr/>
        </p:nvSpPr>
        <p:spPr>
          <a:xfrm>
            <a:off x="381000" y="266700"/>
            <a:ext cx="10477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T · 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任务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 descr="{&quot;isTemplate&quot;:true,&quot;type&quot;:&quot;text&quot;}"/>
          <p:cNvSpPr txBox="1"/>
          <p:nvPr/>
        </p:nvSpPr>
        <p:spPr>
          <a:xfrm>
            <a:off x="10896600" y="304800"/>
            <a:ext cx="9144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我要做什么</a:t>
            </a:r>
            <a:endParaRPr lang="zh-CN" sz="120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 descr="{&quot;isTemplate&quot;:true,&quot;type&quot;:&quot;text&quot;}"/>
          <p:cNvSpPr txBox="1"/>
          <p:nvPr/>
        </p:nvSpPr>
        <p:spPr>
          <a:xfrm>
            <a:off x="11353800" y="65246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03 / 06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0" name="" descr="&lt;Slide padding=&quot;0&quot; style={{ background: '#FFFFFF' }}&gt;&#10;  &lt;Box style={{ position: 'absolute', left: 0, top: 0, width: 1280, height: 88, background: '#0E3F8C' }} /&gt;&#10;  &lt;Text style={{ position: 'absolute', left: 40, top: 28, fontSize: 30, fontWeight: 'bold', color: '#FFFFFF', fontFamily: 'Microsoft YaHei' }}&gt;A · 行动&lt;/Text&gt;&#10;  &lt;Text style={{ position: 'absolute', right: 40, top: 32, fontSize: 16, color: 'rgba(255,255,255,0.7)', fontFamily: 'Microsoft YaHei' }}&gt;三轮递进，把认识落到资料&lt;/Text&gt;&#10;&#10;  &lt;Box style={{ flexDirection: 'column', justifyContent: 'center', height: '100%', paddingTop: 110, paddingLeft: 48, paddingRight: 48, gap: 40 }}&gt;&#10;    {/* 流程时间轴：连接线 + 三节点 */}&#10;    &lt;Box style={{ position: 'relative' }}&gt;&#10;      &lt;Box style={{ position: 'absolute', left: 60, right: 60, top: 36, height: 3, background: '#D6DCE5' }} /&gt;&#10;      &lt;Box style={{ flexDirection: 'row', justifyContent: 'space-between' }}&gt;&#10;        {[&#10;          { n: '01', t: '多轮问答，建立基础认识', d: '围绕智能体推理与数据模拟反复提问，先搭出概念框架。' },&#10;          { n: '02', t: '文献调研，循环层层深入', d: '按三条路线检索、翻译、抽取，每轮收敛一个子方向。' },&#10;          { n: '03', t: '方法集与落位', d: '把结论整理为名词表、方法集与论文落位，形成资料。' },&#10;        ].map((it, i) =&gt; (&#10;          &lt;Box key={i} style={{ width: '30%', flexDirection: 'column', alignItems: 'flex-start', gap: 14 }}&gt;&#10;            &lt;Box style={{ width: 72, height: 72, borderRadius: '50%', background: '#1E4FA8', alignItems: 'center', justifyContent: 'center' }}&gt;&#10;              &lt;Text style={{ fontSize: 30, fontWeight: 'bold', color: '#FFFFFF', fontFamily: 'Microsoft YaHei' }}&gt;{it.n}&lt;/Text&gt;&#10;            &lt;/Box&gt;&#10;            &lt;Text style={{ fontSize: 22, fontWeight: 'bold', color: '#0E3F8C', lineHeight: 1.4, fontFamily: 'Microsoft YaHei' }}&gt;{it.t}&lt;/Text&gt;&#10;            &lt;Text style={{ fontSize: 18, color: '#4A5568', lineHeight: 1.6, fontFamily: 'Microsoft YaHei' }}&gt;{it.d}&lt;/Text&gt;&#10;          &lt;/Box&gt;&#10;        ))}&#10;      &lt;/Box&gt;&#10;    &lt;/Box&gt;&#10;    &lt;Box style={{ background: '#F0F5FC', borderLeft: '4px solid #1E4FA8', padding: 18, gap: 6 }}&gt;&#10;      &lt;Text style={{ fontSize: 18, color: '#1A2230', lineHeight: 1.6, fontFamily: 'Microsoft YaHei' }}&gt;&#10;        &lt;span style={{ fontWeight: 'bold', color: '#1E4FA8' }}&gt;方法：&lt;/span&gt;以&quot;问—读—写&quot;小循环替代一次性大调研，每周都能交付一份可复核的资料，降低方向跑偏风险。&#10;      &lt;/Text&gt;&#10;    &lt;/Box&gt;&#10;  &lt;/Box&gt;&#10;&#10;  &lt;Text style={{ position: 'absolute', right: 40, bottom: 18, fontSize: 14, color: '#8B97A8', fontFamily: 'Microsoft YaHei' }}&gt;04 / 06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矩形 5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52" name="矩形 51"/>
          <p:cNvSpPr/>
          <p:nvPr/>
        </p:nvSpPr>
        <p:spPr>
          <a:xfrm>
            <a:off x="533400" y="5657850"/>
            <a:ext cx="11277600" cy="676275"/>
          </a:xfrm>
          <a:prstGeom prst="rect">
            <a:avLst/>
          </a:prstGeom>
          <a:solidFill>
            <a:srgbClr val="F0F5FC"/>
          </a:solidFill>
        </p:spPr>
        <p:txBody>
          <a:bodyPr/>
          <a:p/>
        </p:txBody>
      </p:sp>
      <p:sp>
        <p:nvSpPr>
          <p:cNvPr id="53" name="任意多边形 52"/>
          <p:cNvSpPr/>
          <p:nvPr/>
        </p:nvSpPr>
        <p:spPr>
          <a:xfrm>
            <a:off x="495300" y="5657850"/>
            <a:ext cx="11315700" cy="676275"/>
          </a:xfrm>
          <a:custGeom>
            <a:avLst/>
            <a:gdLst/>
            <a:ahLst/>
            <a:cxnLst/>
            <a:pathLst>
              <a:path w="1188" h="71">
                <a:moveTo>
                  <a:pt x="0" y="0"/>
                </a:moveTo>
                <a:lnTo>
                  <a:pt x="4" y="0"/>
                </a:lnTo>
                <a:lnTo>
                  <a:pt x="4" y="71"/>
                </a:lnTo>
                <a:lnTo>
                  <a:pt x="0" y="71"/>
                </a:ln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54" name="文本框 53" descr="{&quot;isTemplate&quot;:true,&quot;type&quot;:&quot;text&quot;}"/>
          <p:cNvSpPr txBox="1"/>
          <p:nvPr/>
        </p:nvSpPr>
        <p:spPr>
          <a:xfrm>
            <a:off x="619125" y="5829350"/>
            <a:ext cx="108966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方法：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以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问—读—写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小循环替代一次性大调研，每周都能交付一份可复核的资料，降低方向跑偏风险。</a:t>
            </a:r>
            <a:endParaRPr lang="zh-CN" sz="13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56" name="文本框 55" descr="{&quot;isTemplate&quot;:true,&quot;type&quot;:&quot;text&quot;}"/>
          <p:cNvSpPr txBox="1"/>
          <p:nvPr/>
        </p:nvSpPr>
        <p:spPr>
          <a:xfrm>
            <a:off x="381000" y="266700"/>
            <a:ext cx="10858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 · 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行动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 descr="{&quot;isTemplate&quot;:true,&quot;type&quot;:&quot;text&quot;}"/>
          <p:cNvSpPr txBox="1"/>
          <p:nvPr/>
        </p:nvSpPr>
        <p:spPr>
          <a:xfrm>
            <a:off x="9982200" y="304800"/>
            <a:ext cx="1828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我做了什么</a:t>
            </a:r>
            <a:endParaRPr lang="zh-CN" sz="120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任意多边形 57"/>
          <p:cNvSpPr/>
          <p:nvPr/>
        </p:nvSpPr>
        <p:spPr>
          <a:xfrm>
            <a:off x="457200" y="2438400"/>
            <a:ext cx="674771" cy="625642"/>
          </a:xfrm>
          <a:custGeom>
            <a:avLst/>
            <a:gdLst/>
            <a:ahLst/>
            <a:cxnLst/>
            <a:pathLst>
              <a:path w="72" h="72">
                <a:moveTo>
                  <a:pt x="36" y="0"/>
                </a:moveTo>
                <a:lnTo>
                  <a:pt x="36" y="0"/>
                </a:lnTo>
                <a:cubicBezTo>
                  <a:pt x="56" y="0"/>
                  <a:pt x="72" y="16"/>
                  <a:pt x="72" y="36"/>
                </a:cubicBezTo>
                <a:lnTo>
                  <a:pt x="72" y="36"/>
                </a:lnTo>
                <a:cubicBezTo>
                  <a:pt x="72" y="56"/>
                  <a:pt x="56" y="72"/>
                  <a:pt x="36" y="72"/>
                </a:cubicBezTo>
                <a:lnTo>
                  <a:pt x="36" y="72"/>
                </a:lnTo>
                <a:cubicBezTo>
                  <a:pt x="16" y="72"/>
                  <a:pt x="0" y="56"/>
                  <a:pt x="0" y="36"/>
                </a:cubicBezTo>
                <a:lnTo>
                  <a:pt x="0" y="36"/>
                </a:lnTo>
                <a:cubicBezTo>
                  <a:pt x="0" y="16"/>
                  <a:pt x="16" y="0"/>
                  <a:pt x="3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59" name="文本框 58" descr="{&quot;isTemplate&quot;:true,&quot;type&quot;:&quot;text&quot;}"/>
          <p:cNvSpPr txBox="1"/>
          <p:nvPr/>
        </p:nvSpPr>
        <p:spPr>
          <a:xfrm>
            <a:off x="619125" y="2624087"/>
            <a:ext cx="361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 descr="{&quot;isTemplate&quot;:true,&quot;type&quot;:&quot;text&quot;}"/>
          <p:cNvSpPr txBox="1"/>
          <p:nvPr/>
        </p:nvSpPr>
        <p:spPr>
          <a:xfrm>
            <a:off x="457200" y="3257550"/>
            <a:ext cx="230505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多轮问答，</a:t>
            </a:r>
            <a:r>
              <a:rPr lang="zh-CN" alt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从知识广度上</a:t>
            </a:r>
            <a:endParaRPr lang="zh-CN" altLang="en-US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建立基础认识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 descr="{&quot;isTemplate&quot;:true,&quot;type&quot;:&quot;text&quot;}"/>
          <p:cNvSpPr txBox="1"/>
          <p:nvPr/>
        </p:nvSpPr>
        <p:spPr>
          <a:xfrm>
            <a:off x="457200" y="4061159"/>
            <a:ext cx="3381375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围绕智能体推理与数据模拟反复提问，先搭出概念框架。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任意多边形 61"/>
          <p:cNvSpPr/>
          <p:nvPr/>
        </p:nvSpPr>
        <p:spPr>
          <a:xfrm>
            <a:off x="4400550" y="2438400"/>
            <a:ext cx="685800" cy="685800"/>
          </a:xfrm>
          <a:custGeom>
            <a:avLst/>
            <a:gdLst/>
            <a:ahLst/>
            <a:cxnLst/>
            <a:pathLst>
              <a:path w="72" h="72">
                <a:moveTo>
                  <a:pt x="36" y="0"/>
                </a:moveTo>
                <a:lnTo>
                  <a:pt x="36" y="0"/>
                </a:lnTo>
                <a:cubicBezTo>
                  <a:pt x="56" y="0"/>
                  <a:pt x="72" y="16"/>
                  <a:pt x="72" y="36"/>
                </a:cubicBezTo>
                <a:lnTo>
                  <a:pt x="72" y="36"/>
                </a:lnTo>
                <a:cubicBezTo>
                  <a:pt x="72" y="56"/>
                  <a:pt x="56" y="72"/>
                  <a:pt x="36" y="72"/>
                </a:cubicBezTo>
                <a:lnTo>
                  <a:pt x="36" y="72"/>
                </a:lnTo>
                <a:cubicBezTo>
                  <a:pt x="16" y="72"/>
                  <a:pt x="0" y="56"/>
                  <a:pt x="0" y="36"/>
                </a:cubicBezTo>
                <a:lnTo>
                  <a:pt x="0" y="36"/>
                </a:lnTo>
                <a:cubicBezTo>
                  <a:pt x="0" y="16"/>
                  <a:pt x="16" y="0"/>
                  <a:pt x="3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63" name="文本框 62" descr="{&quot;isTemplate&quot;:true,&quot;type&quot;:&quot;text&quot;}"/>
          <p:cNvSpPr txBox="1"/>
          <p:nvPr/>
        </p:nvSpPr>
        <p:spPr>
          <a:xfrm>
            <a:off x="4562475" y="2609850"/>
            <a:ext cx="361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 descr="{&quot;isTemplate&quot;:true,&quot;type&quot;:&quot;text&quot;}"/>
          <p:cNvSpPr txBox="1"/>
          <p:nvPr/>
        </p:nvSpPr>
        <p:spPr>
          <a:xfrm>
            <a:off x="4400550" y="3257550"/>
            <a:ext cx="230505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文献调研，</a:t>
            </a:r>
            <a:r>
              <a:rPr lang="zh-CN" sz="1650" b="1">
                <a:solidFill>
                  <a:srgbClr val="0E3F8C"/>
                </a:solidFill>
                <a:latin typeface="微软雅黑" charset="0"/>
                <a:ea typeface="微软雅黑" charset="0"/>
              </a:rPr>
              <a:t>从方法</a:t>
            </a:r>
            <a:r>
              <a:rPr lang="zh-CN" altLang="en-US" sz="1650" b="1">
                <a:solidFill>
                  <a:srgbClr val="0E3F8C"/>
                </a:solidFill>
                <a:latin typeface="微软雅黑" charset="0"/>
                <a:ea typeface="微软雅黑" charset="0"/>
              </a:rPr>
              <a:t>深度上</a:t>
            </a:r>
            <a:endParaRPr lang="zh-CN" altLang="en-US" sz="1650" b="1">
              <a:solidFill>
                <a:srgbClr val="0E3F8C"/>
              </a:solidFill>
              <a:latin typeface="微软雅黑" charset="0"/>
              <a:ea typeface="微软雅黑" charset="0"/>
            </a:endParaRPr>
          </a:p>
          <a:p>
            <a:pPr>
              <a:lnSpc>
                <a:spcPct val="140000"/>
              </a:lnSpc>
            </a:pPr>
            <a:r>
              <a:rPr lang="zh-CN" altLang="en-US" sz="1650" b="1">
                <a:solidFill>
                  <a:srgbClr val="0E3F8C"/>
                </a:solidFill>
                <a:latin typeface="微软雅黑" charset="0"/>
                <a:ea typeface="微软雅黑" charset="0"/>
              </a:rPr>
              <a:t>建立系统认知</a:t>
            </a:r>
            <a:endParaRPr lang="zh-CN">
              <a:latin typeface="微软雅黑" charset="0"/>
              <a:ea typeface="微软雅黑" charset="0"/>
            </a:endParaRPr>
          </a:p>
        </p:txBody>
      </p:sp>
      <p:sp>
        <p:nvSpPr>
          <p:cNvPr id="65" name="文本框 64" descr="{&quot;isTemplate&quot;:true,&quot;type&quot;:&quot;text&quot;}"/>
          <p:cNvSpPr txBox="1"/>
          <p:nvPr/>
        </p:nvSpPr>
        <p:spPr>
          <a:xfrm>
            <a:off x="4400550" y="4061159"/>
            <a:ext cx="3390900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按三条路线检索、翻译、抽取，每轮收敛一个子方向。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任意多边形 65"/>
          <p:cNvSpPr/>
          <p:nvPr/>
        </p:nvSpPr>
        <p:spPr>
          <a:xfrm>
            <a:off x="8353425" y="2438400"/>
            <a:ext cx="685800" cy="685800"/>
          </a:xfrm>
          <a:custGeom>
            <a:avLst/>
            <a:gdLst/>
            <a:ahLst/>
            <a:cxnLst/>
            <a:pathLst>
              <a:path w="72" h="72">
                <a:moveTo>
                  <a:pt x="36" y="0"/>
                </a:moveTo>
                <a:lnTo>
                  <a:pt x="36" y="0"/>
                </a:lnTo>
                <a:cubicBezTo>
                  <a:pt x="56" y="0"/>
                  <a:pt x="72" y="16"/>
                  <a:pt x="72" y="36"/>
                </a:cubicBezTo>
                <a:lnTo>
                  <a:pt x="72" y="36"/>
                </a:lnTo>
                <a:cubicBezTo>
                  <a:pt x="72" y="56"/>
                  <a:pt x="56" y="72"/>
                  <a:pt x="36" y="72"/>
                </a:cubicBezTo>
                <a:lnTo>
                  <a:pt x="36" y="72"/>
                </a:lnTo>
                <a:cubicBezTo>
                  <a:pt x="16" y="72"/>
                  <a:pt x="0" y="56"/>
                  <a:pt x="0" y="36"/>
                </a:cubicBezTo>
                <a:lnTo>
                  <a:pt x="0" y="36"/>
                </a:lnTo>
                <a:cubicBezTo>
                  <a:pt x="0" y="16"/>
                  <a:pt x="16" y="0"/>
                  <a:pt x="36" y="0"/>
                </a:cubicBezTo>
                <a:close/>
              </a:path>
            </a:pathLst>
          </a:custGeom>
          <a:solidFill>
            <a:srgbClr val="1E4FA8"/>
          </a:solidFill>
        </p:spPr>
        <p:txBody>
          <a:bodyPr/>
          <a:p/>
        </p:txBody>
      </p:sp>
      <p:sp>
        <p:nvSpPr>
          <p:cNvPr id="67" name="文本框 66" descr="{&quot;isTemplate&quot;:true,&quot;type&quot;:&quot;text&quot;}"/>
          <p:cNvSpPr txBox="1"/>
          <p:nvPr/>
        </p:nvSpPr>
        <p:spPr>
          <a:xfrm>
            <a:off x="8515350" y="2609850"/>
            <a:ext cx="361950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文本框 67" descr="{&quot;isTemplate&quot;:true,&quot;type&quot;:&quot;text&quot;}"/>
          <p:cNvSpPr txBox="1"/>
          <p:nvPr/>
        </p:nvSpPr>
        <p:spPr>
          <a:xfrm>
            <a:off x="8353425" y="3257550"/>
            <a:ext cx="12573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可视化，</a:t>
            </a:r>
            <a:r>
              <a:rPr lang="zh-CN" alt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复盘。</a:t>
            </a:r>
            <a:endParaRPr lang="zh-CN" altLang="en-US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40000"/>
              </a:lnSpc>
            </a:pP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8353425" y="4061159"/>
            <a:ext cx="3381375" cy="6667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350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把结论整理为名词表、方法集与论文落位，形成资料。</a:t>
            </a:r>
            <a:endParaRPr lang="zh-CN" sz="1350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1028700" y="2781300"/>
            <a:ext cx="10134600" cy="28575"/>
          </a:xfrm>
          <a:prstGeom prst="rect">
            <a:avLst/>
          </a:prstGeom>
          <a:solidFill>
            <a:srgbClr val="D6DCE5"/>
          </a:solidFill>
        </p:spPr>
        <p:txBody>
          <a:bodyPr/>
          <a:p/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11353800" y="65246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04 / 06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4" name="圆角矩形 73"/>
          <p:cNvSpPr/>
          <p:nvPr>
            <p:custDataLst>
              <p:tags r:id="rId1"/>
            </p:custDataLst>
          </p:nvPr>
        </p:nvSpPr>
        <p:spPr>
          <a:xfrm>
            <a:off x="168943" y="1028700"/>
            <a:ext cx="2644942" cy="1219200"/>
          </a:xfrm>
          <a:prstGeom prst="roundRect">
            <a:avLst>
              <a:gd name="adj" fmla="val 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2" name="圆角矩形 1"/>
          <p:cNvSpPr/>
          <p:nvPr>
            <p:custDataLst>
              <p:tags r:id="rId2"/>
            </p:custDataLst>
          </p:nvPr>
        </p:nvSpPr>
        <p:spPr>
          <a:xfrm>
            <a:off x="4230604" y="1028700"/>
            <a:ext cx="2644942" cy="1219200"/>
          </a:xfrm>
          <a:prstGeom prst="roundRect">
            <a:avLst>
              <a:gd name="adj" fmla="val 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3" name="圆角矩形 2"/>
          <p:cNvSpPr/>
          <p:nvPr>
            <p:custDataLst>
              <p:tags r:id="rId3"/>
            </p:custDataLst>
          </p:nvPr>
        </p:nvSpPr>
        <p:spPr>
          <a:xfrm>
            <a:off x="8611101" y="1028700"/>
            <a:ext cx="2644942" cy="1219200"/>
          </a:xfrm>
          <a:prstGeom prst="roundRect">
            <a:avLst>
              <a:gd name="adj" fmla="val 0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72" name="" descr="&lt;Slide padding=&quot;0&quot; style={{ background: '#FFFFFF' }}&gt;&#10;  &lt;Box style={{ position: 'absolute', left: 0, top: 0, width: 1280, height: 88, background: '#0E3F8C' }} /&gt;&#10;  &lt;Text style={{ position: 'absolute', left: 40, top: 28, fontSize: 30, fontWeight: 'bold', color: '#FFFFFF', fontFamily: 'Microsoft YaHei' }}&gt;R · 结果&lt;/Text&gt;&#10;  &lt;Text style={{ position: 'absolute', right: 40, top: 32, fontSize: 16, color: 'rgba(255,255,255,0.7)', fontFamily: 'Microsoft YaHei' }}&gt;六类资料已沉淀&lt;/Text&gt;&#10;&#10;  &lt;Box style={{ flexDirection: 'column', justifyContent: 'center', height: '100%', paddingTop: 104, paddingLeft: 40, paddingRight: 40, gap: 22 }}&gt;&#10;    &lt;Box style={{ flexDirection: 'row', gap: 20 }}&gt;&#10;      {[&#10;        { k: '名词表', v: '12×4', d: '概念与英文对照' },&#10;        { k: '环境与轨迹', v: '6×3', d: '两类要素拆解' },&#10;        { k: '两篇论文', v: '5×3', d: '精读译文' },&#10;      ].map((c, i) =&gt; (&#10;        &lt;Box key={i} style={{ flex: 1, background: '#F0F5FC', border: '1px solid #D6DCE5', borderRadius: 12, padding: 22, gap: 8 }}&gt;&#10;          &lt;Text style={{ fontSize: 22, fontWeight: 'bold', color: '#0E3F8C', fontFamily: 'Microsoft YaHei' }}&gt;{c.k}&lt;/Text&gt;&#10;          &lt;Text style={{ fontSize: 44, fontWeight: 'bold', color: '#1E4FA8', fontFamily: 'Microsoft YaHei' }}&gt;{c.v}&lt;/Text&gt;&#10;          &lt;Text style={{ fontSize: 17, color: '#4A5568', fontFamily: 'Microsoft YaHei' }}&gt;{c.d}&lt;/Text&gt;&#10;        &lt;/Box&gt;&#10;      ))}&#10;    &lt;/Box&gt;&#10;    &lt;Box style={{ flexDirection: 'row', gap: 20 }}&gt;&#10;      {[&#10;        { k: '四种方法', v: '5×8', d: '方法原理矩阵' },&#10;        { k: '轨迹 vs 环境', v: '9×3', d: '对比维度' },&#10;        { k: '论文方法集', v: '4类7图', d: '落位总表', accent: true },&#10;      ].map((c, i) =&gt; (&#10;        &lt;Box key={i} style={{ flex: 1, background: c.accent ? '#1E4FA8' : '#F0F5FC', border: c.accent ? '1px solid #1E4FA8' : '1px solid #D6DCE5', borderRadius: 12, padding: 22, gap: 8 }}&gt;&#10;          &lt;Text style={{ fontSize: 22, fontWeight: 'bold', color: c.accent ? '#FFFFFF' : '#0E3F8C', fontFamily: 'Microsoft YaHei' }}&gt;{c.k}&lt;/Text&gt;&#10;          &lt;Text style={{ fontSize: 44, fontWeight: 'bold', color: c.accent ? '#FFFFFF' : '#1E4FA8', fontFamily: 'Microsoft YaHei' }}&gt;{c.v}&lt;/Text&gt;&#10;          &lt;Text style={{ fontSize: 17, color: c.accent ? 'rgba(255,255,255,0.85)' : '#4A5568', fontFamily: 'Microsoft YaHei' }}&gt;{c.d}&lt;/Text&gt;&#10;        &lt;/Box&gt;&#10;      ))}&#10;    &lt;/Box&gt;&#10;    &lt;Text style={{ fontSize: 18, color: '#1A2230', lineHeight: 1.6, fontFamily: 'Microsoft YaHei' }}&gt;&#10;      &lt;span style={{ fontWeight: 'bold', color: '#1E4FA8' }}&gt;所以呢：&lt;/span&gt;这些不是零散笔记，而是可检索、可复用的&quot;方法论文献底座&quot;——后续实验直接调用，不必从头调研。&#10;    &lt;/Text&gt;&#10;  &lt;/Box&gt;&#10;&#10;  &lt;Text style={{ position: 'absolute', right: 40, bottom: 18, fontSize: 14, color: '#8B97A8', fontFamily: 'Microsoft YaHei' }}&gt;05 / 06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 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74" name="圆角矩形 73"/>
          <p:cNvSpPr/>
          <p:nvPr>
            <p:custDataLst>
              <p:tags r:id="rId1"/>
            </p:custDataLst>
          </p:nvPr>
        </p:nvSpPr>
        <p:spPr>
          <a:xfrm>
            <a:off x="381000" y="2019300"/>
            <a:ext cx="3686175" cy="1533525"/>
          </a:xfrm>
          <a:prstGeom prst="roundRect">
            <a:avLst>
              <a:gd name="adj" fmla="val 74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5" name="文本框 74" descr="{&quot;isTemplate&quot;:true,&quot;type&quot;:&quot;text&quot;}"/>
          <p:cNvSpPr txBox="1"/>
          <p:nvPr>
            <p:custDataLst>
              <p:tags r:id="rId2"/>
            </p:custDataLst>
          </p:nvPr>
        </p:nvSpPr>
        <p:spPr>
          <a:xfrm>
            <a:off x="590550" y="2228850"/>
            <a:ext cx="3267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发现关联性论文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590550" y="2562225"/>
            <a:ext cx="326707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altLang="zh-CN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r>
              <a:rPr lang="zh-CN" altLang="en-US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en-US" altLang="zh-CN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sz="33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文本框 76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590550" y="3143250"/>
            <a:ext cx="32670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en-US" alt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25</a:t>
            </a: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篇相关论文中，找到两篇相关度最高的论文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圆角矩形 77"/>
          <p:cNvSpPr/>
          <p:nvPr>
            <p:custDataLst>
              <p:tags r:id="rId5"/>
            </p:custDataLst>
          </p:nvPr>
        </p:nvSpPr>
        <p:spPr>
          <a:xfrm>
            <a:off x="4257675" y="2019300"/>
            <a:ext cx="3676650" cy="1533525"/>
          </a:xfrm>
          <a:prstGeom prst="roundRect">
            <a:avLst>
              <a:gd name="adj" fmla="val 74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79" name="文本框 78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4467225" y="2228850"/>
            <a:ext cx="3257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建立论文方法集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文本框 79" descr="{&quot;isTemplate&quot;:true,&quot;type&quot;:&quot;text&quot;}"/>
          <p:cNvSpPr txBox="1"/>
          <p:nvPr>
            <p:custDataLst>
              <p:tags r:id="rId7"/>
            </p:custDataLst>
          </p:nvPr>
        </p:nvSpPr>
        <p:spPr>
          <a:xfrm>
            <a:off x="4467225" y="2562225"/>
            <a:ext cx="32575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altLang="zh-CN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类</a:t>
            </a:r>
            <a:endParaRPr lang="en-US" sz="33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 descr="{&quot;isTemplate&quot;:true,&quot;type&quot;:&quot;text&quot;}"/>
          <p:cNvSpPr txBox="1"/>
          <p:nvPr>
            <p:custDataLst>
              <p:tags r:id="rId8"/>
            </p:custDataLst>
          </p:nvPr>
        </p:nvSpPr>
        <p:spPr>
          <a:xfrm>
            <a:off x="4467225" y="3143250"/>
            <a:ext cx="3317708" cy="4095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将论文集分为：评估、复用、轨迹生成、</a:t>
            </a:r>
            <a:endParaRPr lang="zh-CN" altLang="en-US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环境生成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圆角矩形 81"/>
          <p:cNvSpPr/>
          <p:nvPr>
            <p:custDataLst>
              <p:tags r:id="rId9"/>
            </p:custDataLst>
          </p:nvPr>
        </p:nvSpPr>
        <p:spPr>
          <a:xfrm>
            <a:off x="8124825" y="2019300"/>
            <a:ext cx="3686175" cy="1533525"/>
          </a:xfrm>
          <a:prstGeom prst="roundRect">
            <a:avLst>
              <a:gd name="adj" fmla="val 74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3" name="文本框 82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8334375" y="2228850"/>
            <a:ext cx="3267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论文集合</a:t>
            </a:r>
            <a:r>
              <a:rPr lang="en-US" alt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网页呈现</a:t>
            </a:r>
            <a:r>
              <a:rPr lang="en-US" alt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alt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8334375" y="2562225"/>
            <a:ext cx="326707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altLang="zh-CN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个</a:t>
            </a:r>
            <a:endParaRPr lang="en-US" sz="33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8334375" y="3143250"/>
            <a:ext cx="3267075" cy="340393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zh-CN" altLang="en-US" sz="1275">
                <a:solidFill>
                  <a:srgbClr val="4A5568"/>
                </a:solidFill>
                <a:latin typeface="微软雅黑" charset="0"/>
                <a:ea typeface="微软雅黑" charset="0"/>
              </a:rPr>
              <a:t>调研方向</a:t>
            </a: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到论文网页展示的过程整理为</a:t>
            </a:r>
            <a:r>
              <a:rPr lang="en-US" alt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skill</a:t>
            </a:r>
            <a:endParaRPr lang="en-US" alt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方便下次使用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圆角矩形 85"/>
          <p:cNvSpPr/>
          <p:nvPr>
            <p:custDataLst>
              <p:tags r:id="rId13"/>
            </p:custDataLst>
          </p:nvPr>
        </p:nvSpPr>
        <p:spPr>
          <a:xfrm>
            <a:off x="381000" y="3762375"/>
            <a:ext cx="3686175" cy="1533525"/>
          </a:xfrm>
          <a:prstGeom prst="roundRect">
            <a:avLst>
              <a:gd name="adj" fmla="val 74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87" name="文本框 86" descr="{&quot;isTemplate&quot;:true,&quot;type&quot;:&quot;text&quot;}"/>
          <p:cNvSpPr txBox="1"/>
          <p:nvPr>
            <p:custDataLst>
              <p:tags r:id="rId14"/>
            </p:custDataLst>
          </p:nvPr>
        </p:nvSpPr>
        <p:spPr>
          <a:xfrm>
            <a:off x="590550" y="3971925"/>
            <a:ext cx="3267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工程日志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590550" y="4305300"/>
            <a:ext cx="326707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1E4FA8"/>
                </a:solidFill>
                <a:latin typeface="微软雅黑" charset="0"/>
                <a:ea typeface="微软雅黑" charset="0"/>
              </a:rPr>
              <a:t>1</a:t>
            </a:r>
            <a:r>
              <a:rPr lang="zh-CN" altLang="en-US" sz="3300" b="1">
                <a:solidFill>
                  <a:srgbClr val="1E4FA8"/>
                </a:solidFill>
                <a:latin typeface="微软雅黑" charset="0"/>
                <a:ea typeface="微软雅黑" charset="0"/>
                <a:cs typeface="Arial" panose="020B0604020202020204" pitchFamily="34" charset="0"/>
              </a:rPr>
              <a:t>篇</a:t>
            </a:r>
            <a:endParaRPr 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文本框 88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590550" y="4886325"/>
            <a:ext cx="32670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方法原理矩阵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圆角矩形 89"/>
          <p:cNvSpPr/>
          <p:nvPr>
            <p:custDataLst>
              <p:tags r:id="rId17"/>
            </p:custDataLst>
          </p:nvPr>
        </p:nvSpPr>
        <p:spPr>
          <a:xfrm>
            <a:off x="4257675" y="3762375"/>
            <a:ext cx="3676650" cy="1533525"/>
          </a:xfrm>
          <a:prstGeom prst="roundRect">
            <a:avLst>
              <a:gd name="adj" fmla="val 7453"/>
            </a:avLst>
          </a:prstGeom>
          <a:solidFill>
            <a:srgbClr val="F0F5FC"/>
          </a:solidFill>
          <a:ln w="12700">
            <a:solidFill>
              <a:srgbClr val="D6DCE5"/>
            </a:solidFill>
            <a:prstDash val="solid"/>
          </a:ln>
        </p:spPr>
        <p:txBody>
          <a:bodyPr/>
          <a:p/>
        </p:txBody>
      </p:sp>
      <p:sp>
        <p:nvSpPr>
          <p:cNvPr id="91" name="文本框 90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4467225" y="3971925"/>
            <a:ext cx="32575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E3F8C"/>
                </a:solidFill>
                <a:latin typeface="微软雅黑" panose="020B0503020204020204" charset="-122"/>
                <a:ea typeface="微软雅黑" panose="020B0503020204020204" charset="-122"/>
              </a:rPr>
              <a:t>开源项目</a:t>
            </a:r>
            <a:endParaRPr lang="zh-CN" sz="1650" b="1">
              <a:solidFill>
                <a:srgbClr val="0E3F8C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文本框 91" descr="{&quot;isTemplate&quot;:true,&quot;type&quot;:&quot;text&quot;}"/>
          <p:cNvSpPr txBox="1"/>
          <p:nvPr>
            <p:custDataLst>
              <p:tags r:id="rId19"/>
            </p:custDataLst>
          </p:nvPr>
        </p:nvSpPr>
        <p:spPr>
          <a:xfrm>
            <a:off x="4467225" y="4305300"/>
            <a:ext cx="325755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altLang="zh-CN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30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个文件</a:t>
            </a:r>
            <a:endParaRPr lang="en-US" sz="3300" b="1">
              <a:solidFill>
                <a:srgbClr val="1E4F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 descr="{&quot;isTemplate&quot;:true,&quot;type&quot;:&quot;text&quot;}"/>
          <p:cNvSpPr txBox="1"/>
          <p:nvPr>
            <p:custDataLst>
              <p:tags r:id="rId20"/>
            </p:custDataLst>
          </p:nvPr>
        </p:nvSpPr>
        <p:spPr>
          <a:xfrm>
            <a:off x="4467225" y="4886325"/>
            <a:ext cx="3317708" cy="4095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</a:rPr>
              <a:t>将项目</a:t>
            </a: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日志、论文网页、</a:t>
            </a:r>
            <a:r>
              <a:rPr lang="en-US" alt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ppt</a:t>
            </a: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、</a:t>
            </a:r>
            <a:r>
              <a:rPr lang="en-US" alt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skill</a:t>
            </a:r>
            <a:r>
              <a:rPr lang="zh-CN" altLang="en-US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开源在了</a:t>
            </a:r>
            <a:endParaRPr lang="zh-CN" altLang="en-US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en-US" altLang="zh-CN" sz="1275">
                <a:solidFill>
                  <a:srgbClr val="4A5568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github</a:t>
            </a:r>
            <a:endParaRPr lang="zh-CN" sz="1275">
              <a:solidFill>
                <a:srgbClr val="4A556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圆角矩形 93"/>
          <p:cNvSpPr/>
          <p:nvPr>
            <p:custDataLst>
              <p:tags r:id="rId21"/>
            </p:custDataLst>
          </p:nvPr>
        </p:nvSpPr>
        <p:spPr>
          <a:xfrm>
            <a:off x="8124825" y="3762375"/>
            <a:ext cx="3686175" cy="1533525"/>
          </a:xfrm>
          <a:prstGeom prst="roundRect">
            <a:avLst>
              <a:gd name="adj" fmla="val 7453"/>
            </a:avLst>
          </a:prstGeom>
          <a:solidFill>
            <a:srgbClr val="1E4FA8"/>
          </a:solidFill>
          <a:ln w="12700">
            <a:solidFill>
              <a:srgbClr val="1E4FA8"/>
            </a:solidFill>
            <a:prstDash val="solid"/>
          </a:ln>
        </p:spPr>
        <p:txBody>
          <a:bodyPr/>
          <a:p/>
        </p:txBody>
      </p:sp>
      <p:sp>
        <p:nvSpPr>
          <p:cNvPr id="95" name="文本框 94" descr="{&quot;isTemplate&quot;:true,&quot;type&quot;:&quot;text&quot;}"/>
          <p:cNvSpPr txBox="1"/>
          <p:nvPr>
            <p:custDataLst>
              <p:tags r:id="rId22"/>
            </p:custDataLst>
          </p:nvPr>
        </p:nvSpPr>
        <p:spPr>
          <a:xfrm>
            <a:off x="8334375" y="3971925"/>
            <a:ext cx="32670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论文方法集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文本框 95" descr="{&quot;isTemplate&quot;:true,&quot;type&quot;:&quot;text&quot;}"/>
          <p:cNvSpPr txBox="1"/>
          <p:nvPr>
            <p:custDataLst>
              <p:tags r:id="rId23"/>
            </p:custDataLst>
          </p:nvPr>
        </p:nvSpPr>
        <p:spPr>
          <a:xfrm>
            <a:off x="8334375" y="4305300"/>
            <a:ext cx="3267075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类</a:t>
            </a: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图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7" name="文本框 96" descr="{&quot;isTemplate&quot;:true,&quot;type&quot;:&quot;text&quot;}"/>
          <p:cNvSpPr txBox="1"/>
          <p:nvPr>
            <p:custDataLst>
              <p:tags r:id="rId24"/>
            </p:custDataLst>
          </p:nvPr>
        </p:nvSpPr>
        <p:spPr>
          <a:xfrm>
            <a:off x="8334375" y="4886325"/>
            <a:ext cx="32670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FFFFFF">
                    <a:alpha val="85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落位总表</a:t>
            </a:r>
            <a:endParaRPr lang="zh-CN" sz="1275">
              <a:solidFill>
                <a:srgbClr val="FFFFFF">
                  <a:alpha val="85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381000" y="5505450"/>
            <a:ext cx="11430000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350" b="1">
                <a:solidFill>
                  <a:srgbClr val="1E4FA8"/>
                </a:solidFill>
                <a:latin typeface="微软雅黑" panose="020B0503020204020204" charset="-122"/>
                <a:ea typeface="微软雅黑" panose="020B0503020204020204" charset="-122"/>
              </a:rPr>
              <a:t>所以呢：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这些不是零散笔记，而是可检索、可复用的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方法论文献底座</a:t>
            </a:r>
            <a:r>
              <a:rPr lang="en-US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"——</a:t>
            </a:r>
            <a:r>
              <a:rPr lang="zh-CN" sz="1350">
                <a:solidFill>
                  <a:srgbClr val="1A2230"/>
                </a:solidFill>
                <a:latin typeface="微软雅黑" panose="020B0503020204020204" charset="-122"/>
                <a:ea typeface="微软雅黑" panose="020B0503020204020204" charset="-122"/>
              </a:rPr>
              <a:t>后续实验直接调用，不必从头调研。</a:t>
            </a:r>
            <a:endParaRPr lang="zh-CN" sz="1350">
              <a:solidFill>
                <a:srgbClr val="1A223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矩形 98"/>
          <p:cNvSpPr/>
          <p:nvPr/>
        </p:nvSpPr>
        <p:spPr>
          <a:xfrm>
            <a:off x="0" y="0"/>
            <a:ext cx="12192000" cy="8382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381000" y="266700"/>
            <a:ext cx="1076325" cy="342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R · </a:t>
            </a: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结果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744200" y="304800"/>
            <a:ext cx="1066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结果怎么样</a:t>
            </a:r>
            <a:endParaRPr lang="zh-CN" sz="120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11353800" y="65246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B97A8"/>
                </a:solidFill>
                <a:latin typeface="微软雅黑" panose="020B0503020204020204" charset="-122"/>
                <a:ea typeface="微软雅黑" panose="020B0503020204020204" charset="-122"/>
              </a:rPr>
              <a:t>05 / 06</a:t>
            </a:r>
            <a:endParaRPr lang="en-US" sz="1050">
              <a:solidFill>
                <a:srgbClr val="8B97A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03" name="" descr="&lt;Slide padding=&quot;0&quot; style={{ background: '#0E3F8C' }}&gt;&#10;  &lt;Box style={{ position: 'absolute', left: 0, top: 0, width: 14, height: 720, background: '#1E4FA8' }} /&gt;&#10;  &lt;Box style={{ position: 'absolute', right: 80, bottom: 70, width: 240, height: 240, borderRadius: '50%', border: '2px solid rgba(255,255,255,0.1)' }} /&gt;&#10;&#10;  &lt;Box style={{ flexDirection: 'column', justifyContent: 'center', height: '100%', paddingLeft: 96, paddingRight: 80, gap: 36 }}&gt;&#10;    &lt;Text style={{ fontSize: 22, color: 'rgba(255,255,255,0.7)', letterSpacing: 4, fontFamily: 'Microsoft YaHei' }}&gt;下一步 · NEXT&lt;/Text&gt;&#10;    &lt;Text style={{ fontSize: 56, fontWeight: 'bold', color: '#FFFFFF', lineHeight: 1.25, fontFamily: 'Microsoft YaHei' }}&gt;&#10;      以智能体为面，&lt;br /&gt;以数据模拟为&lt;span style={{ color: '#E8EFF8' }}&gt;点&lt;/span&gt;。&#10;    &lt;/Text&gt;&#10;    &lt;Box style={{ width: 120, height: 4, background: '#E8EFF8' }} /&gt;&#10;    &lt;Box style={{ flexDirection: 'row', gap: 28, marginTop: 4 }}&gt;&#10;      {[&#10;        { n: '01', t: '跑最小实验', d: '选一条路线先验证可行性' },&#10;        { n: '02', t: '合并方法总表', d: '把四类方法统一成可查表' },&#10;        { n: '03', t: '四类论文落位', d: '明确每类对应的文献与缺口' },&#10;      ].map((it, i) =&gt; (&#10;        &lt;Box key={i} style={{ flex: 1, background: 'rgba(255,255,255,0.08)', border: '1px solid rgba(255,255,255,0.18)', borderRadius: 10, padding: 20, gap: 8 }}&gt;&#10;          &lt;Text style={{ fontSize: 26, fontWeight: 'bold', color: '#E8EFF8', fontFamily: 'Microsoft YaHei' }}&gt;{it.n}&lt;/Text&gt;&#10;          &lt;Text style={{ fontSize: 20, fontWeight: 'bold', color: '#FFFFFF', fontFamily: 'Microsoft YaHei' }}&gt;{it.t}&lt;/Text&gt;&#10;          &lt;Text style={{ fontSize: 16, color: 'rgba(255,255,255,0.78)', lineHeight: 1.5, fontFamily: 'Microsoft YaHei' }}&gt;{it.d}&lt;/Text&gt;&#10;        &lt;/Box&gt;&#10;      ))}&#10;    &lt;/Box&gt;&#10;  &lt;/Box&gt;&#10;&#10;  &lt;Text style={{ position: 'absolute', right: 40, bottom: 18, fontSize: 14, color: 'rgba(255,255,255,0.6)', fontFamily: 'Microsoft YaHei' }}&gt;06 / 06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矩形 10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E3F8C"/>
          </a:solidFill>
        </p:spPr>
        <p:txBody>
          <a:bodyPr/>
          <a:p/>
        </p:txBody>
      </p:sp>
      <p:sp>
        <p:nvSpPr>
          <p:cNvPr id="105" name="文本框 104" descr="{&quot;isTemplate&quot;:true,&quot;type&quot;:&quot;text&quot;}"/>
          <p:cNvSpPr txBox="1"/>
          <p:nvPr/>
        </p:nvSpPr>
        <p:spPr>
          <a:xfrm>
            <a:off x="914400" y="1276350"/>
            <a:ext cx="105156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spc="3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下一步</a:t>
            </a:r>
            <a:r>
              <a:rPr lang="en-US" sz="1650" spc="300">
                <a:solidFill>
                  <a:srgbClr val="FFFFFF">
                    <a:alpha val="7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NEXT</a:t>
            </a:r>
            <a:endParaRPr lang="en-US" sz="1650" spc="300">
              <a:solidFill>
                <a:srgbClr val="FFFFFF">
                  <a:alpha val="7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914400" y="1876425"/>
            <a:ext cx="10515600" cy="16002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阅读代码、复现论文，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</a:pPr>
            <a:r>
              <a:rPr lang="zh-CN" sz="4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判断代码的可用性与准确性。</a:t>
            </a:r>
            <a:endParaRPr lang="zh-CN" sz="4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7" name="矩形 106"/>
          <p:cNvSpPr/>
          <p:nvPr/>
        </p:nvSpPr>
        <p:spPr>
          <a:xfrm>
            <a:off x="914400" y="3819525"/>
            <a:ext cx="1143000" cy="38100"/>
          </a:xfrm>
          <a:prstGeom prst="rect">
            <a:avLst/>
          </a:prstGeom>
          <a:solidFill>
            <a:srgbClr val="E8EFF8"/>
          </a:solidFill>
        </p:spPr>
        <p:txBody>
          <a:bodyPr/>
          <a:p/>
        </p:txBody>
      </p:sp>
      <p:sp>
        <p:nvSpPr>
          <p:cNvPr id="108" name="圆角矩形 107"/>
          <p:cNvSpPr/>
          <p:nvPr/>
        </p:nvSpPr>
        <p:spPr>
          <a:xfrm>
            <a:off x="914400" y="4238625"/>
            <a:ext cx="3324225" cy="1343025"/>
          </a:xfrm>
          <a:prstGeom prst="roundRect">
            <a:avLst>
              <a:gd name="adj" fmla="val 709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104900" y="4429125"/>
            <a:ext cx="29432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1950" b="1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104900" y="4810125"/>
            <a:ext cx="29432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阅读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代码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1104900" y="5114925"/>
            <a:ext cx="29432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zh-CN" sz="120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阅读代码加深方法的理解和判断可用性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2" name="圆角矩形 111"/>
          <p:cNvSpPr/>
          <p:nvPr/>
        </p:nvSpPr>
        <p:spPr>
          <a:xfrm>
            <a:off x="4505325" y="4238625"/>
            <a:ext cx="3333750" cy="1343025"/>
          </a:xfrm>
          <a:prstGeom prst="roundRect">
            <a:avLst>
              <a:gd name="adj" fmla="val 709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695825" y="4429125"/>
            <a:ext cx="295275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1950" b="1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4695825" y="4810125"/>
            <a:ext cx="29527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复现论文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4695825" y="5114925"/>
            <a:ext cx="295275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通过</a:t>
            </a:r>
            <a:r>
              <a:rPr lang="zh-CN" altLang="en-US" sz="120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复现论文来初步判断方法的有效性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圆角矩形 115"/>
          <p:cNvSpPr/>
          <p:nvPr/>
        </p:nvSpPr>
        <p:spPr>
          <a:xfrm>
            <a:off x="8105775" y="4238625"/>
            <a:ext cx="3324225" cy="1343025"/>
          </a:xfrm>
          <a:prstGeom prst="roundRect">
            <a:avLst>
              <a:gd name="adj" fmla="val 7092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1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7" name="文本框 116" descr="{&quot;isTemplate&quot;:true,&quot;type&quot;:&quot;text&quot;}"/>
          <p:cNvSpPr txBox="1"/>
          <p:nvPr/>
        </p:nvSpPr>
        <p:spPr>
          <a:xfrm>
            <a:off x="8296275" y="4429125"/>
            <a:ext cx="2943225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E8EFF8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1950" b="1">
              <a:solidFill>
                <a:srgbClr val="E8EFF8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8296275" y="4810125"/>
            <a:ext cx="2943225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应用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反思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8296275" y="5114925"/>
            <a:ext cx="2943225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7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思考其如何应用在我们的项目中</a:t>
            </a:r>
            <a:endParaRPr lang="zh-CN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矩形 119"/>
          <p:cNvSpPr/>
          <p:nvPr/>
        </p:nvSpPr>
        <p:spPr>
          <a:xfrm>
            <a:off x="0" y="0"/>
            <a:ext cx="133350" cy="6858000"/>
          </a:xfrm>
          <a:prstGeom prst="rect">
            <a:avLst/>
          </a:prstGeom>
          <a:solidFill>
            <a:srgbClr val="1E4FA8"/>
          </a:solidFill>
        </p:spPr>
        <p:txBody>
          <a:bodyPr/>
          <a:p/>
        </p:txBody>
      </p:sp>
      <p:sp>
        <p:nvSpPr>
          <p:cNvPr id="121" name="任意多边形 120"/>
          <p:cNvSpPr/>
          <p:nvPr/>
        </p:nvSpPr>
        <p:spPr>
          <a:xfrm>
            <a:off x="9144000" y="3905250"/>
            <a:ext cx="2286000" cy="2286000"/>
          </a:xfrm>
          <a:custGeom>
            <a:avLst/>
            <a:gdLst/>
            <a:ahLst/>
            <a:cxnLst/>
            <a:pathLst>
              <a:path w="240" h="240">
                <a:moveTo>
                  <a:pt x="120" y="0"/>
                </a:moveTo>
                <a:lnTo>
                  <a:pt x="120" y="0"/>
                </a:lnTo>
                <a:cubicBezTo>
                  <a:pt x="186" y="0"/>
                  <a:pt x="240" y="54"/>
                  <a:pt x="240" y="120"/>
                </a:cubicBezTo>
                <a:lnTo>
                  <a:pt x="240" y="120"/>
                </a:lnTo>
                <a:cubicBezTo>
                  <a:pt x="240" y="186"/>
                  <a:pt x="186" y="240"/>
                  <a:pt x="120" y="240"/>
                </a:cubicBezTo>
                <a:lnTo>
                  <a:pt x="120" y="240"/>
                </a:lnTo>
                <a:cubicBezTo>
                  <a:pt x="54" y="240"/>
                  <a:pt x="0" y="186"/>
                  <a:pt x="0" y="120"/>
                </a:cubicBezTo>
                <a:lnTo>
                  <a:pt x="0" y="120"/>
                </a:lnTo>
                <a:cubicBezTo>
                  <a:pt x="0" y="54"/>
                  <a:pt x="54" y="0"/>
                  <a:pt x="120" y="0"/>
                </a:cubicBezTo>
                <a:close/>
              </a:path>
            </a:pathLst>
          </a:custGeom>
          <a:ln w="254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11353800" y="6524625"/>
            <a:ext cx="457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06 / 06</a:t>
            </a:r>
            <a:endParaRPr lang="en-US" sz="1050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3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4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5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6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7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8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9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0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1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2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3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4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5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6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7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8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19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0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1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2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3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4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5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6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ags/tag27.xml><?xml version="1.0" encoding="utf-8"?>
<p:tagLst xmlns:p="http://schemas.openxmlformats.org/presentationml/2006/main">
  <p:tag name="KSO_WM_DIAGRAM_VIRTUALLY_FRAME" val="{&quot;height&quot;:258,&quot;left&quot;:30,&quot;top&quot;:159,&quot;width&quot;:90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918</Words>
  <Application>WPS Office WWO_wpscloud_20260916174450-7bfc4fa662</Application>
  <PresentationFormat/>
  <Paragraphs>163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汉仪旗黑KW 55S</vt:lpstr>
      <vt:lpstr>Calibri</vt:lpstr>
      <vt:lpstr>汉仪书宋二KW</vt:lpstr>
      <vt:lpstr>Kingsoft Confetti</vt:lpstr>
      <vt:lpstr>微软雅黑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山茶</cp:lastModifiedBy>
  <dcterms:created xsi:type="dcterms:W3CDTF">2026-09-21T12:19:28Z</dcterms:created>
  <dcterms:modified xsi:type="dcterms:W3CDTF">2026-09-21T12:19:28Z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A05573E3A8264241806386FCBFEB887D_12</vt:lpwstr>
  </property>
  <property fmtid="{D5CDD505-2E9C-101B-9397-08002B2CF9AE}" pid="3" name="KSOProductBuildVer">
    <vt:lpwstr>2052-12.9.0.29121</vt:lpwstr>
  </property>
</Properties>
</file>