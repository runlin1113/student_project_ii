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8" r:id="rId7"/>
    <p:sldId id="259" r:id="rId8"/>
    <p:sldId id="261" r:id="rId9"/>
    <p:sldId id="271" r:id="rId10"/>
    <p:sldId id="262" r:id="rId11"/>
    <p:sldId id="263" r:id="rId12"/>
    <p:sldId id="270" r:id="rId13"/>
    <p:sldId id="264" r:id="rId14"/>
    <p:sldId id="266" r:id="rId15"/>
    <p:sldId id="267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0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0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各位老师同学好，我是凌润林，今天汇报第三、四周的项目实践工作。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本次汇报主要围绕上云服务智能体的推理模块展开，重点是数据模拟调研、CloudEmu论文解读以及Cloud-Agent模拟器的测评方法设计。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下面我将按照STAR法则，从背景、任务、行动、结果四个维度展开汇报。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用STAR法则总览两周的工作。背景是我们项目做上云服务智能体，我负责推理模块，数据模拟是关键。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第三周的任务是调研数据模拟前沿，通过多轮问答和文献调研，归纳出四类方法集。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第四周的任务转向：王同学搭建好了模拟器平台，我需要提取测试方法、精读CloudEmu论文，并设计我们自己的测评框架。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最终产出了CloudEmu完整解读和Cloud-Agent六阶段测评方法。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第三周的工作简要回顾：通过多轮问答建立基础认知，然后进行文献调研和迭代追问，最终用WorkBuddy检索前沿论文，归纳出四类方法集。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四类方法分别是：环境合成、轨迹合成、评估指标、环境复用，它们对应智能体训练流程的不同环节。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其中与我们项目最相关的是环境合成类的CloudEmu论文，以及评估指标类的τ-bench和Terminal-Bench。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CloudEmu的生成机制分为三个阶段，形成一条"文档→结构→代码→真值"的链路。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第一阶段文档整理，解决LLM直接读文档上下文过大、易丢失的问题，方法是构建资源索引图。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第二阶段代码合成，解决LLM直接生成代码幻觉严重、状态丢失的问题，方法是用状态机脚手架做约束。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第三阶段自动对齐，用真云作为Oracle做闭环测试和修复，保证模拟器的可信度。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这三个阶段缺一不可，后续消融实验也验证了这一点。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CloudEmu的生成机制分为三个阶段，形成一条"文档→结构→代码→真值"的链路。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第一阶段文档整理，解决LLM直接读文档上下文过大、易丢失的问题，方法是构建资源索引图。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第二阶段代码合成，解决LLM直接生成代码幻觉严重、状态丢失的问题，方法是用状态机脚手架做约束。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第三阶段自动对齐，用真云作为Oracle做闭环测试和修复，保证模拟器的可信度。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这三个阶段缺一不可，后续消融实验也验证了这一点。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CloudEmu的测试方法核心是L0/L1/L2三层保真指标体系，逐层递进。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L0是错误类别一致，只看成功失败和错误码；L1是响应保真，业务关键字段取值一致；L2是状态一致性，内部资源状态完全等价。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这套指标可以直接作为我们Cloud-Agent上层API仿真层的验收标准。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其中L2尤其关键，它保证"后续API行为自然正确"，正是防止reward hacking的机制设计。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CloudEmu通过四个研究问题验证其有效性。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RQ1对比SOTA的LocalStack，CloudEmu在API覆盖率和三层保真上全面占优。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RQ2消融实验验证三大核心技术缺一不可，D2C直接生成效果很差。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RQ3评估合成和对齐的资源开销，工程上可行。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RQ4验证跨云泛化能力，仅修改数据层就可以迁移到GCP，说明方法论通用。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这一页讲CloudEmu与我们Cloud-Agent的联系，核心发现是环境存在层次之分。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CloudEmu模拟的是云控制面API层，训练的是智能体调用工具的能力。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但我们小组搭建的模拟器是集成了API层与Docker沙箱的，除了调API还能在真实OS里执行命令。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两层能力面不同：API层训练"会调接口"，OS沙箱训练"会动手操作"，缺一不可。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因此测试方法不能照搬CloudEmu，而是要分两层设计，再用消融实验归因。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这一页讲CloudEmu与我们Cloud-Agent的联系，核心发现是环境存在层次之分。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CloudEmu模拟的是云控制面API层，训练的是智能体调用工具的能力。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但我们小组搭建的模拟器是集成了API层与Docker沙箱的，除了调API还能在真实OS里执行命令。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两层能力面不同：API层训练"会调接口"，OS沙箱训练"会动手操作"，缺一不可。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因此测试方法不能照搬CloudEmu，而是要分两层设计，再用消融实验归因。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这一页讲测评用到的具体数据集和基准。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三种测试方法各有侧重：Terminal-Bench测OS沙箱，CloudEmu测API层，其他环境生成论文提供思想借鉴。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核心数据集是Terminal-Bench，共89个人工校验任务。其中系统管理9题和调试5题，共14题，与我们的C03任务最贴近，可作下层沙箱保真测试的种子任务。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筛选流程：过滤systemd/内核相关任务 → 执行方式改为SSH → oracle脚本先在真实KVM跑通作真值 → 沙箱内跑同一套verifier。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下一步工作分三步走。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第一，给C01/C02/C03三个核心任务补齐"任务描述、oracle参考脚本、verifier校验脚本、Dockerfile"四件套，这是测试的基础。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第二，从Terminal-Bench 89题中筛出系统管理和调试共14题作为下层种子任务，先在真实KVM上跑通oracle脚本作为真值。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第三，开通真云Oracle，完成第一次上层API差分测试，产出首版API-Fidelity报告，包含Bug清单和Known-Limitation清单。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以上就是第三、四周的工作汇报。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总结一下：第三周完成了数据模拟领域的文献调研，归纳出四类方法集。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第四周精读了CloudEmu论文，理清了生成机制和测试方法，并结合我们Cloud-Agent模拟器的特点，设计了六阶段测评框架。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下一步将补齐任务四件套，开展下层沙箱和上层API的首轮测试。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谢谢大家，欢迎提问。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hyperlink" Target="https://runlin1113.github.io/student_project_II/week3/%E6%95%B0%E6%8D%AE%E6%A8%A1%E6%8B%9F%E6%96%87%E7%8C%AE%E8%B0%83%E7%A0%94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3A50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深圳技术大学 · 人工智能学院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数据模拟</a:t>
            </a:r>
            <a:r>
              <a:rPr lang="en-US" sz="44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调研与</a:t>
            </a:r>
            <a:r>
              <a:rPr lang="zh-CN" altLang="en-US" sz="44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模拟器</a:t>
            </a:r>
            <a:r>
              <a:rPr lang="en-US" sz="44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测评方法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04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第三、四周项目实践工作汇报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28647">
            <a:off x="1016026" y="4057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A50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457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汇报人：凌润林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08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年 9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 法则 · 两周工作总览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5240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3A50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524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 背景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5">
            <a:off x="3175079" y="1835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7" name="AutoShape 7"/>
          <p:cNvSpPr/>
          <p:nvPr/>
        </p:nvSpPr>
        <p:spPr>
          <a:xfrm>
            <a:off x="3683000" y="15240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683000" y="1524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 任务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85925">
            <a:off x="5842079" y="1835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6350000" y="15240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1524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行动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85925">
            <a:off x="8509079" y="1835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9017000" y="15240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3A50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017000" y="1524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 结果</a:t>
            </a:r>
            <a:endParaRPr lang="en-US" sz="1100"/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016000" y="2540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4572000"/>
                <a:gridCol w="4572000"/>
              </a:tblGrid>
              <a:tr h="482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第三周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第四周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</a:tr>
              <a:tr h="749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 背景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项目组做上云服务智能体，我负责智能体推理；数据模拟是项目成败关键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王同学已搭建模拟器平台，我需从文献中提取测试方法并分析 CloudEmu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 任务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调研数据模拟前沿论文，找到与项目关联度高的可行方法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① 提取模拟器测试方法 ② </a:t>
                      </a:r>
                      <a:r>
                        <a:rPr lang="en-US" sz="1100" b="0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</a:t>
                      </a: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读 CloudEmu </a:t>
                      </a:r>
                      <a:r>
                        <a:rPr lang="zh-CN" alt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论文</a:t>
                      </a: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 ③ </a:t>
                      </a:r>
                      <a:r>
                        <a:rPr lang="zh-CN" alt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提出我们的测试方法，用</a:t>
                      </a: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流程图+表格呈现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0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 行动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多轮问答建立认知 → 文献调研+迭代追问 → WorkBuddy 检索前沿 → 整理四类方法集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总结四类方法映射 → </a:t>
                      </a:r>
                      <a:r>
                        <a:rPr lang="en-US" sz="1100" b="0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分析</a:t>
                      </a: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 CloudEmu </a:t>
                      </a:r>
                      <a:r>
                        <a:rPr lang="en-US" sz="1100" b="0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的架构</a:t>
                      </a:r>
                      <a:r>
                        <a:rPr lang="zh-CN" altLang="en-US" sz="1100" b="0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设计</a:t>
                      </a:r>
                      <a:r>
                        <a:rPr lang="en-US" sz="1100" b="0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与评估方法</a:t>
                      </a: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→ 发现 API/沙箱分层 → </a:t>
                      </a:r>
                      <a:r>
                        <a:rPr lang="en-US" sz="1100" b="0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结合调研内容提出测试方法</a:t>
                      </a:r>
                      <a:endParaRPr lang="en-US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4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 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归纳四类论文方法集（环境合成/轨迹合成/评估指标/环境复用）；锁定 CloudEmu 与 τ-bench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产出 CloudEmu 完整解读 + L0/L1/L2 基准  + Terminal-Bench 反转用法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第三周回顾 · 数据模拟调研</a:t>
            </a:r>
            <a:r>
              <a:rPr lang="zh-CN" alt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与分类</a:t>
            </a:r>
            <a:endParaRPr lang="en-US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651000"/>
            <a:ext cx="1778000" cy="558800"/>
          </a:xfrm>
          <a:prstGeom prst="roundRect">
            <a:avLst>
              <a:gd name="adj" fmla="val 909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5F7A9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多轮问答</a:t>
            </a:r>
            <a:b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建立认知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14549">
            <a:off x="2794106" y="1924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7" name="AutoShape 7"/>
          <p:cNvSpPr/>
          <p:nvPr/>
        </p:nvSpPr>
        <p:spPr>
          <a:xfrm>
            <a:off x="3175000" y="1651000"/>
            <a:ext cx="1778000" cy="558800"/>
          </a:xfrm>
          <a:prstGeom prst="roundRect">
            <a:avLst>
              <a:gd name="adj" fmla="val 909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5F7A9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175000" y="16510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文献调研</a:t>
            </a:r>
            <a:b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迭代追问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14549">
            <a:off x="4953106" y="1924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5334000" y="1651000"/>
            <a:ext cx="1778000" cy="558800"/>
          </a:xfrm>
          <a:prstGeom prst="roundRect">
            <a:avLst>
              <a:gd name="adj" fmla="val 909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5F7A9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334000" y="16510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WorkBuddy</a:t>
            </a:r>
            <a:b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检索前沿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14549">
            <a:off x="7112106" y="1924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7493000" y="1651000"/>
            <a:ext cx="1778000" cy="558800"/>
          </a:xfrm>
          <a:prstGeom prst="roundRect">
            <a:avLst>
              <a:gd name="adj" fmla="val 9090"/>
            </a:avLst>
          </a:prstGeom>
          <a:solidFill>
            <a:srgbClr val="3A50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493000" y="16510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四类方法集</a:t>
            </a:r>
            <a:b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落位项目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5972" y="2324446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核心产出：</a:t>
            </a:r>
            <a:r>
              <a:rPr lang="en-US" sz="16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  <a:hlinkClick r:id="rId1"/>
              </a:rPr>
              <a:t>数据模拟四类方法集</a:t>
            </a:r>
            <a:endParaRPr lang="en-US" sz="1100"/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1015972" y="2845564"/>
          <a:ext cx="10160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62900"/>
                <a:gridCol w="1948478"/>
                <a:gridCol w="1815703"/>
                <a:gridCol w="2258922"/>
                <a:gridCol w="3073997"/>
              </a:tblGrid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方法类别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解决的核心问题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对应训练环节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代表工作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对我们项目的意义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环境合成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后训练环境稀缺、预训练轨迹稀缺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环境构建 → 轨迹采集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CloudEmu, EnvCraft, FACET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与我们云模拟器项目直接同构，优先精读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轨迹合成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预训练方法快速验证、低成本获数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数据获取 → 模型训练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Terminal-Universe, Simia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可用于SFT阶段的预热数据与数据增强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评估指标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智能体评测基准与方法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评测验证 → 部署迭代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τ-bench, Terminal-Bench, OSWorld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直接用于测试我们智能体的工具调用与执行能力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环境复用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环境稀缺、模型进化后环境饱和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环境构建 → 持续迭代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Agent-World, SPADE, Env Evolution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远期规划：诊断弱点→定向合成新任务的数据飞轮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AutoShape 5"/>
          <p:cNvSpPr/>
          <p:nvPr/>
        </p:nvSpPr>
        <p:spPr>
          <a:xfrm>
            <a:off x="1015972" y="5643102"/>
            <a:ext cx="1397000" cy="508000"/>
          </a:xfrm>
          <a:prstGeom prst="roundRect">
            <a:avLst>
              <a:gd name="adj" fmla="val 10000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6"/>
          <p:cNvSpPr/>
          <p:nvPr/>
        </p:nvSpPr>
        <p:spPr>
          <a:xfrm>
            <a:off x="1015972" y="5643102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任务定义</a:t>
            </a:r>
            <a:endParaRPr lang="en-US" sz="1100"/>
          </a:p>
        </p:txBody>
      </p:sp>
      <p:cxnSp>
        <p:nvCxnSpPr>
          <p:cNvPr id="19" name="Connector 7"/>
          <p:cNvCxnSpPr/>
          <p:nvPr/>
        </p:nvCxnSpPr>
        <p:spPr>
          <a:xfrm rot="-228844">
            <a:off x="2413183" y="5890752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8"/>
          <p:cNvSpPr/>
          <p:nvPr/>
        </p:nvSpPr>
        <p:spPr>
          <a:xfrm>
            <a:off x="2603472" y="5643102"/>
            <a:ext cx="1397000" cy="508000"/>
          </a:xfrm>
          <a:prstGeom prst="roundRect">
            <a:avLst>
              <a:gd name="adj" fmla="val 10000"/>
            </a:avLst>
          </a:prstGeom>
          <a:solidFill>
            <a:srgbClr val="B8C6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9"/>
          <p:cNvSpPr/>
          <p:nvPr/>
        </p:nvSpPr>
        <p:spPr>
          <a:xfrm>
            <a:off x="2603472" y="5643102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环境构建</a:t>
            </a:r>
            <a:endParaRPr lang="en-US" sz="1100"/>
          </a:p>
        </p:txBody>
      </p:sp>
      <p:cxnSp>
        <p:nvCxnSpPr>
          <p:cNvPr id="22" name="Connector 10"/>
          <p:cNvCxnSpPr/>
          <p:nvPr/>
        </p:nvCxnSpPr>
        <p:spPr>
          <a:xfrm rot="-228844">
            <a:off x="4000683" y="5890752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11"/>
          <p:cNvSpPr/>
          <p:nvPr/>
        </p:nvSpPr>
        <p:spPr>
          <a:xfrm>
            <a:off x="4190972" y="5643102"/>
            <a:ext cx="1397000" cy="508000"/>
          </a:xfrm>
          <a:prstGeom prst="roundRect">
            <a:avLst>
              <a:gd name="adj" fmla="val 10000"/>
            </a:avLst>
          </a:prstGeom>
          <a:solidFill>
            <a:srgbClr val="B8C6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12"/>
          <p:cNvSpPr/>
          <p:nvPr/>
        </p:nvSpPr>
        <p:spPr>
          <a:xfrm>
            <a:off x="4190972" y="5643102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数据获取</a:t>
            </a:r>
            <a:endParaRPr lang="en-US" sz="1100"/>
          </a:p>
        </p:txBody>
      </p:sp>
      <p:cxnSp>
        <p:nvCxnSpPr>
          <p:cNvPr id="25" name="Connector 13"/>
          <p:cNvCxnSpPr/>
          <p:nvPr/>
        </p:nvCxnSpPr>
        <p:spPr>
          <a:xfrm rot="-228844">
            <a:off x="5588183" y="5890752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6" name="AutoShape 14"/>
          <p:cNvSpPr/>
          <p:nvPr/>
        </p:nvSpPr>
        <p:spPr>
          <a:xfrm>
            <a:off x="5778472" y="5643102"/>
            <a:ext cx="1397000" cy="508000"/>
          </a:xfrm>
          <a:prstGeom prst="roundRect">
            <a:avLst>
              <a:gd name="adj" fmla="val 10000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15"/>
          <p:cNvSpPr/>
          <p:nvPr/>
        </p:nvSpPr>
        <p:spPr>
          <a:xfrm>
            <a:off x="5778472" y="5643102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模型训练</a:t>
            </a:r>
            <a:endParaRPr lang="en-US" sz="1100"/>
          </a:p>
        </p:txBody>
      </p:sp>
      <p:cxnSp>
        <p:nvCxnSpPr>
          <p:cNvPr id="28" name="Connector 16"/>
          <p:cNvCxnSpPr/>
          <p:nvPr/>
        </p:nvCxnSpPr>
        <p:spPr>
          <a:xfrm rot="-228844">
            <a:off x="7175683" y="5890752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9" name="AutoShape 17"/>
          <p:cNvSpPr/>
          <p:nvPr/>
        </p:nvSpPr>
        <p:spPr>
          <a:xfrm>
            <a:off x="7365972" y="5643102"/>
            <a:ext cx="1397000" cy="508000"/>
          </a:xfrm>
          <a:prstGeom prst="roundRect">
            <a:avLst>
              <a:gd name="adj" fmla="val 10000"/>
            </a:avLst>
          </a:prstGeom>
          <a:solidFill>
            <a:srgbClr val="B8C6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18"/>
          <p:cNvSpPr/>
          <p:nvPr/>
        </p:nvSpPr>
        <p:spPr>
          <a:xfrm>
            <a:off x="7365972" y="5643102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⑤ 评测验证</a:t>
            </a:r>
            <a:endParaRPr lang="en-US" sz="1100"/>
          </a:p>
        </p:txBody>
      </p:sp>
      <p:cxnSp>
        <p:nvCxnSpPr>
          <p:cNvPr id="31" name="Connector 19"/>
          <p:cNvCxnSpPr/>
          <p:nvPr/>
        </p:nvCxnSpPr>
        <p:spPr>
          <a:xfrm rot="-228844">
            <a:off x="8763183" y="5890752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2" name="AutoShape 20"/>
          <p:cNvSpPr/>
          <p:nvPr/>
        </p:nvSpPr>
        <p:spPr>
          <a:xfrm>
            <a:off x="8953472" y="5643102"/>
            <a:ext cx="1397000" cy="508000"/>
          </a:xfrm>
          <a:prstGeom prst="roundRect">
            <a:avLst>
              <a:gd name="adj" fmla="val 10000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21"/>
          <p:cNvSpPr/>
          <p:nvPr/>
        </p:nvSpPr>
        <p:spPr>
          <a:xfrm>
            <a:off x="8953472" y="5643102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⑥ 部署迭代</a:t>
            </a:r>
            <a:endParaRPr lang="en-US" sz="1100"/>
          </a:p>
        </p:txBody>
      </p:sp>
      <p:sp>
        <p:nvSpPr>
          <p:cNvPr id="34" name="AutoShape 22"/>
          <p:cNvSpPr/>
          <p:nvPr/>
        </p:nvSpPr>
        <p:spPr>
          <a:xfrm>
            <a:off x="2603472" y="6278102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环境复用·环境生成</a:t>
            </a:r>
            <a:endParaRPr lang="en-US" sz="1100"/>
          </a:p>
        </p:txBody>
      </p:sp>
      <p:sp>
        <p:nvSpPr>
          <p:cNvPr id="35" name="AutoShape 23"/>
          <p:cNvSpPr/>
          <p:nvPr/>
        </p:nvSpPr>
        <p:spPr>
          <a:xfrm>
            <a:off x="4190972" y="6278102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轨迹生成</a:t>
            </a:r>
            <a:endParaRPr lang="en-US" sz="1100"/>
          </a:p>
        </p:txBody>
      </p:sp>
      <p:sp>
        <p:nvSpPr>
          <p:cNvPr id="36" name="AutoShape 24"/>
          <p:cNvSpPr/>
          <p:nvPr/>
        </p:nvSpPr>
        <p:spPr>
          <a:xfrm>
            <a:off x="7365972" y="6278102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基准测评</a:t>
            </a:r>
            <a:endParaRPr lang="en-US" sz="1100"/>
          </a:p>
        </p:txBody>
      </p:sp>
      <p:sp>
        <p:nvSpPr>
          <p:cNvPr id="37" name="AutoShape 25"/>
          <p:cNvSpPr/>
          <p:nvPr/>
        </p:nvSpPr>
        <p:spPr>
          <a:xfrm>
            <a:off x="8953472" y="6278102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环境复用（进化）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CloudEmu </a:t>
            </a:r>
            <a:r>
              <a:rPr lang="zh-CN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altLang="zh-CN" sz="2800" b="1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Terminal-Bench </a:t>
            </a:r>
            <a:endParaRPr lang="en-US" altLang="zh-CN" sz="2800" b="1" i="0" u="none" strike="noStrike">
              <a:solidFill>
                <a:srgbClr val="3A50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1016000" y="1554480"/>
          <a:ext cx="10160635" cy="369697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79930"/>
                <a:gridCol w="3902075"/>
                <a:gridCol w="4278630"/>
              </a:tblGrid>
              <a:tr h="37084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问题</a:t>
                      </a:r>
                      <a:endParaRPr lang="zh-CN" altLang="en-US" sz="11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cloudemu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terminal-bench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</a:tr>
              <a:tr h="54800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解决什么问题</a:t>
                      </a:r>
                      <a:endParaRPr lang="zh-CN" altLang="en-US" sz="1100" b="1" i="0" u="none" strike="noStrike">
                        <a:solidFill>
                          <a:srgbClr val="3A506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训练/评测云运维智能体需要真实云 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API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环境，但真云昂贵、有风险、难复现</a:t>
                      </a:r>
                      <a:endParaRPr lang="zh-CN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缺乏统一评测智能体真实终端/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OS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操作能力的基准，已有基准偏代码而非系统操作</a:t>
                      </a:r>
                      <a:endParaRPr lang="zh-CN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737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怎么解决的</a:t>
                      </a:r>
                      <a:endParaRPr lang="zh-CN" altLang="en-US" sz="1100" b="1" i="0" u="none" strike="noStrike">
                        <a:solidFill>
                          <a:srgbClr val="3A506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从公开云文档自动生成 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API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模拟器：①文档整理 → ②代码合成 → ③与真云自动对齐闭环</a:t>
                      </a:r>
                      <a:endParaRPr lang="zh-CN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构建 89 个容器化真实任务（系统管理/调试/软件工程等），让智能体在真实 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shell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里端到端执行</a:t>
                      </a:r>
                      <a:endParaRPr lang="zh-CN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753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为什么可以解决</a:t>
                      </a:r>
                      <a:endParaRPr lang="zh-CN" altLang="en-US" sz="1100" b="1" i="0" u="none" strike="noStrike">
                        <a:solidFill>
                          <a:srgbClr val="3A506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云 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API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是控制面消息交互，语义可由文档确定性描述，用「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DB+JSON」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即可高保真仿真</a:t>
                      </a:r>
                      <a:endParaRPr lang="zh-CN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任务跑在真实 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Docker OS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中，动作即真实系统调用，改变本机文件/进程/网络，结果可程序化自动判分</a:t>
                      </a:r>
                      <a:endParaRPr lang="zh-CN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7530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100" b="1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证明有效性</a:t>
                      </a:r>
                      <a:endParaRPr lang="zh-CN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覆盖率 100%（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LocalStack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仅 ~70%）；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L0/L1/L2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三层保真递进验证；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RQ1–RQ4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证明 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LLM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评测者与人工一致</a:t>
                      </a:r>
                      <a:endParaRPr lang="zh-CN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已被社区广泛采纳为终端能力基准，多款 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SOTA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智能体在其上出榜对比，任务难度与多样性经过实际检验</a:t>
                      </a:r>
                      <a:endParaRPr lang="zh-CN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165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100" b="1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我们的机会点</a:t>
                      </a:r>
                      <a:endParaRPr lang="en-US" alt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  <a:buNone/>
                        <a:defRPr/>
                      </a:pPr>
                      <a:endParaRPr lang="en-US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借鉴其「文档→模拟器」自动生成管线构建 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Cloud-Agent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上层；直接采用 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L0/L1/L2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作为上层 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API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保真验收标准</a:t>
                      </a:r>
                      <a:endParaRPr lang="zh-CN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取其系统管理 9 题 + 调试 5 题 = 14 题作下层沙箱种子；用「真 </a:t>
                      </a:r>
                      <a:r>
                        <a:rPr lang="en-US" altLang="zh-C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Docker vs Cloud-Agent </a:t>
                      </a:r>
                      <a:r>
                        <a:rPr lang="zh-CN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沙箱」差分测试验证下层保真（目标 ≥85%）</a:t>
                      </a:r>
                      <a:endParaRPr lang="zh-CN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7530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  <a:defRPr/>
                      </a:pPr>
                      <a:endParaRPr lang="en-US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buNone/>
                        <a:defRPr/>
                      </a:pPr>
                      <a:endParaRPr lang="en-US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buNone/>
                        <a:defRPr/>
                      </a:pPr>
                      <a:endParaRPr lang="en-US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为什么有效：</a:t>
            </a:r>
            <a:r>
              <a:rPr 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CloudEmu 论文解读 · </a:t>
            </a:r>
            <a:r>
              <a:rPr lang="zh-CN" alt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架构设计</a:t>
            </a:r>
            <a:endParaRPr lang="en-US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22" y="3612137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各阶段核心方法与解决的问题</a:t>
            </a:r>
            <a:endParaRPr lang="en-US" sz="1100"/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1016022" y="4094508"/>
          <a:ext cx="10160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2794000"/>
                <a:gridCol w="3048000"/>
                <a:gridCol w="2921000"/>
              </a:tblGrid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阶段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解决的痛点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核心方法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关键收益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 文档整理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LLM 直接读文档：上下文过大、易丢失内容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构建资源索引图：索引节点（API/资源类型）+ 索引边（依赖关系）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可遍历、确定性、模块化、依赖关系明确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 代码合成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LLM 直接生成代码：幻觉严重、状态量丢失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状态机脚手架：模板化生成 + 符号抽象约束 + 字段自动补全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抑制幻觉、保证状态一致性、格式合规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 自动对齐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合成模拟器与真云仍有偏差，人工修复成本高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生成测试→双端执行→定位差异→修补模拟器→循环直到对齐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真云 Oracle 闭环，可信性的最后闸门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7" name="图片 16" descr="post_object_image_14226719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492" y="1155700"/>
            <a:ext cx="8875767" cy="2521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887710" cy="5759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有效性验证：</a:t>
            </a:r>
            <a:r>
              <a:rPr 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CloudEmu 论文解读 · 测试方法（L0/L1/L2 三层保真）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954088" y="2018903"/>
            <a:ext cx="1669504" cy="1042591"/>
          </a:xfrm>
          <a:prstGeom prst="roundRect">
            <a:avLst>
              <a:gd name="adj" fmla="val 8571"/>
            </a:avLst>
          </a:prstGeom>
          <a:solidFill>
            <a:srgbClr val="B8C6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000"/>
          </a:p>
        </p:txBody>
      </p:sp>
      <p:sp>
        <p:nvSpPr>
          <p:cNvPr id="6" name="AutoShape 6"/>
          <p:cNvSpPr/>
          <p:nvPr/>
        </p:nvSpPr>
        <p:spPr>
          <a:xfrm>
            <a:off x="861516" y="2120503"/>
            <a:ext cx="1821656" cy="3095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L0 · Error Class</a:t>
            </a:r>
            <a:endParaRPr lang="en-US" sz="1000"/>
          </a:p>
        </p:txBody>
      </p:sp>
      <p:sp>
        <p:nvSpPr>
          <p:cNvPr id="7" name="AutoShape 7"/>
          <p:cNvSpPr/>
          <p:nvPr/>
        </p:nvSpPr>
        <p:spPr>
          <a:xfrm>
            <a:off x="801985" y="2449810"/>
            <a:ext cx="1821656" cy="3603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错误类别一致</a:t>
            </a:r>
            <a:br>
              <a:rPr lang="en-US" sz="10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成功/失败 + 错误码</a:t>
            </a:r>
            <a:endParaRPr lang="en-US" sz="1000"/>
          </a:p>
        </p:txBody>
      </p:sp>
      <p:cxnSp>
        <p:nvCxnSpPr>
          <p:cNvPr id="8" name="Connector 8"/>
          <p:cNvCxnSpPr/>
          <p:nvPr/>
        </p:nvCxnSpPr>
        <p:spPr>
          <a:xfrm rot="-85925">
            <a:off x="2683209" y="2468823"/>
            <a:ext cx="243261" cy="992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A506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/>
          <p:nvPr/>
        </p:nvSpPr>
        <p:spPr>
          <a:xfrm>
            <a:off x="3045619" y="2018903"/>
            <a:ext cx="1583482" cy="983060"/>
          </a:xfrm>
          <a:prstGeom prst="roundRect">
            <a:avLst>
              <a:gd name="adj" fmla="val 8571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000"/>
          </a:p>
        </p:txBody>
      </p:sp>
      <p:sp>
        <p:nvSpPr>
          <p:cNvPr id="10" name="AutoShape 10"/>
          <p:cNvSpPr/>
          <p:nvPr/>
        </p:nvSpPr>
        <p:spPr>
          <a:xfrm>
            <a:off x="2926507" y="2120504"/>
            <a:ext cx="1821656" cy="3095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 · Response Fidelity</a:t>
            </a:r>
            <a:endParaRPr lang="en-US" sz="1000"/>
          </a:p>
        </p:txBody>
      </p:sp>
      <p:sp>
        <p:nvSpPr>
          <p:cNvPr id="11" name="AutoShape 11"/>
          <p:cNvSpPr/>
          <p:nvPr/>
        </p:nvSpPr>
        <p:spPr>
          <a:xfrm>
            <a:off x="2986087" y="2463403"/>
            <a:ext cx="1821656" cy="3603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响应保真</a:t>
            </a:r>
            <a:b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业务关键字段取值一致</a:t>
            </a:r>
            <a:endParaRPr lang="en-US" sz="1000"/>
          </a:p>
        </p:txBody>
      </p:sp>
      <p:cxnSp>
        <p:nvCxnSpPr>
          <p:cNvPr id="12" name="Connector 12"/>
          <p:cNvCxnSpPr/>
          <p:nvPr/>
        </p:nvCxnSpPr>
        <p:spPr>
          <a:xfrm rot="-85925">
            <a:off x="4807829" y="2452824"/>
            <a:ext cx="243261" cy="992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A506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5229770" y="2018903"/>
            <a:ext cx="1550442" cy="983060"/>
          </a:xfrm>
          <a:prstGeom prst="roundRect">
            <a:avLst>
              <a:gd name="adj" fmla="val 8571"/>
            </a:avLst>
          </a:prstGeom>
          <a:solidFill>
            <a:srgbClr val="3A50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000"/>
          </a:p>
        </p:txBody>
      </p:sp>
      <p:sp>
        <p:nvSpPr>
          <p:cNvPr id="14" name="AutoShape 14"/>
          <p:cNvSpPr/>
          <p:nvPr/>
        </p:nvSpPr>
        <p:spPr>
          <a:xfrm>
            <a:off x="5117306" y="2120503"/>
            <a:ext cx="1821656" cy="3095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· State Consistency</a:t>
            </a:r>
            <a:endParaRPr lang="en-US" sz="1000"/>
          </a:p>
        </p:txBody>
      </p:sp>
      <p:sp>
        <p:nvSpPr>
          <p:cNvPr id="15" name="AutoShape 15"/>
          <p:cNvSpPr/>
          <p:nvPr/>
        </p:nvSpPr>
        <p:spPr>
          <a:xfrm>
            <a:off x="5117306" y="2463403"/>
            <a:ext cx="1821656" cy="3603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状态一致性</a:t>
            </a:r>
            <a:b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内部资源状态等价</a:t>
            </a:r>
            <a:endParaRPr lang="en-US" sz="1000"/>
          </a:p>
        </p:txBody>
      </p:sp>
      <p:sp>
        <p:nvSpPr>
          <p:cNvPr id="16" name="AutoShape 16"/>
          <p:cNvSpPr/>
          <p:nvPr/>
        </p:nvSpPr>
        <p:spPr>
          <a:xfrm>
            <a:off x="1015972" y="3534837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指标定义与通过判定</a:t>
            </a:r>
            <a:endParaRPr lang="en-US" sz="1100"/>
          </a:p>
        </p:txBody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1016050" y="4042430"/>
          <a:ext cx="10160000" cy="266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16473"/>
                <a:gridCol w="1494841"/>
                <a:gridCol w="2092251"/>
                <a:gridCol w="2828217"/>
                <a:gridCol w="2828218"/>
              </a:tblGrid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定义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通过判定条件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典型失败示例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1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启示</a:t>
                      </a:r>
                      <a:endParaRPr lang="zh-CN" altLang="en-US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</a:tr>
              <a:tr h="749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L0 错误类别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API 调用成功/失败状态及错误码与真实云完全一致（不校验返回字段）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真实云报错→模拟器报相同错误码；真实云成功→模拟器也成功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DeleteVpc 因存在子网应报错，模拟器却返回成功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000">
                          <a:solidFill>
                            <a:srgbClr val="333333"/>
                          </a:solidFill>
                        </a:rPr>
                        <a:t>基础保真底线：无论是 </a:t>
                      </a:r>
                      <a:r>
                        <a:rPr lang="en-US" altLang="zh-CN" sz="1000">
                          <a:solidFill>
                            <a:srgbClr val="333333"/>
                          </a:solidFill>
                        </a:rPr>
                        <a:t>API </a:t>
                      </a:r>
                      <a:r>
                        <a:rPr lang="zh-CN" altLang="en-US" sz="1000">
                          <a:solidFill>
                            <a:srgbClr val="333333"/>
                          </a:solidFill>
                        </a:rPr>
                        <a:t>调用还是 </a:t>
                      </a:r>
                      <a:r>
                        <a:rPr lang="en-US" altLang="zh-CN" sz="1000">
                          <a:solidFill>
                            <a:srgbClr val="333333"/>
                          </a:solidFill>
                        </a:rPr>
                        <a:t>Shell </a:t>
                      </a:r>
                      <a:r>
                        <a:rPr lang="zh-CN" altLang="en-US" sz="1000">
                          <a:solidFill>
                            <a:srgbClr val="333333"/>
                          </a:solidFill>
                        </a:rPr>
                        <a:t>命令，必须保证成功 / 失败结果与真实环境对齐，不能出现 “假成功”，这是 </a:t>
                      </a:r>
                      <a:r>
                        <a:rPr lang="en-US" altLang="zh-CN" sz="1000">
                          <a:solidFill>
                            <a:srgbClr val="333333"/>
                          </a:solidFill>
                        </a:rPr>
                        <a:t>Agent </a:t>
                      </a:r>
                      <a:r>
                        <a:rPr lang="zh-CN" altLang="en-US" sz="1000">
                          <a:solidFill>
                            <a:srgbClr val="333333"/>
                          </a:solidFill>
                        </a:rPr>
                        <a:t>训练最致命的问题。</a:t>
                      </a:r>
                      <a:endParaRPr lang="en-US" altLang="en-US" sz="1000">
                        <a:solidFill>
                          <a:srgbClr val="333333"/>
                        </a:solidFill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L1 响应保真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L0 基础上，业务关键响应字段取值与真实云完全一致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满足 L0 + 关键响应字段值一致（忽略时间戳、随机 ID 等动态字段）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真实 AWS 返回嵌套对象，模拟器直接省略该字段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altLang="zh-CN" sz="1000">
                          <a:solidFill>
                            <a:srgbClr val="333333"/>
                          </a:solidFill>
                        </a:rPr>
                        <a:t>Agent </a:t>
                      </a:r>
                      <a:r>
                        <a:rPr lang="zh-CN" altLang="en-US" sz="1000">
                          <a:solidFill>
                            <a:srgbClr val="333333"/>
                          </a:solidFill>
                        </a:rPr>
                        <a:t>依靠返回内容做下一步规划；输出文本 / 关键字段必须保真，否则 </a:t>
                      </a:r>
                      <a:r>
                        <a:rPr lang="en-US" altLang="zh-CN" sz="1000">
                          <a:solidFill>
                            <a:srgbClr val="333333"/>
                          </a:solidFill>
                        </a:rPr>
                        <a:t>Agent </a:t>
                      </a:r>
                      <a:r>
                        <a:rPr lang="zh-CN" altLang="en-US" sz="1000">
                          <a:solidFill>
                            <a:srgbClr val="333333"/>
                          </a:solidFill>
                        </a:rPr>
                        <a:t>会基于错误信息做出错误决策。</a:t>
                      </a:r>
                      <a:endParaRPr lang="en-US" altLang="en-US" sz="1000">
                        <a:solidFill>
                          <a:srgbClr val="333333"/>
                        </a:solidFill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L2 状态一致性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L1 基础上，模拟器内部全部资源状态与真实云等价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内部资源模型、依赖关系、子资源关联与 Oracle 等价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返回字段正确，但内部未记录子网隶属 VPC，导致删 VPC 不触发依赖报错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altLang="zh-CN" sz="1000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Agent </a:t>
                      </a:r>
                      <a:r>
                        <a:rPr lang="zh-CN" altLang="en-US" sz="1000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会持续操作、修改系统状态；模拟器底层状态模型必须可持久化、可传递，前后操作状态必须联动，不能是一次性静态返回。</a:t>
                      </a:r>
                      <a:endParaRPr lang="en-US" altLang="en-US" sz="1000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8" name="图片 17" descr="post_object_image_30844600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982" y="1658938"/>
            <a:ext cx="5199440" cy="17625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有效性验证：</a:t>
            </a:r>
            <a:r>
              <a:rPr 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CloudEmu 论文解读 · 实验验证（RQ1–RQ4）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841500"/>
            <a:ext cx="2286000" cy="635000"/>
          </a:xfrm>
          <a:prstGeom prst="roundRect">
            <a:avLst>
              <a:gd name="adj" fmla="val 800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3A506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304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RQ1 对比 SOTA</a:t>
            </a:r>
            <a:b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（vs LocalStack）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14549">
            <a:off x="3302106" y="2152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3683000" y="1841500"/>
            <a:ext cx="2286000" cy="635000"/>
          </a:xfrm>
          <a:prstGeom prst="roundRect">
            <a:avLst>
              <a:gd name="adj" fmla="val 800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3A506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683000" y="19304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RQ2 消融实验</a:t>
            </a:r>
            <a:b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（验证三大核心技术）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14549">
            <a:off x="5969106" y="2152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6350000" y="1841500"/>
            <a:ext cx="2286000" cy="635000"/>
          </a:xfrm>
          <a:prstGeom prst="roundRect">
            <a:avLst>
              <a:gd name="adj" fmla="val 800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3A506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0" y="19304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RQ3 开销评估</a:t>
            </a:r>
            <a:b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（时间/Token/补丁）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14549">
            <a:off x="8636106" y="2152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F7A9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9017000" y="18415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3A50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017000" y="19304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RQ4 跨云泛化</a:t>
            </a:r>
            <a:b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（迁移 GCP）</a:t>
            </a:r>
            <a:endParaRPr lang="en-US" sz="1100"/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1016000" y="2794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2540000"/>
                <a:gridCol w="3048000"/>
                <a:gridCol w="3556000"/>
              </a:tblGrid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研究问题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实验设置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RQ1</a:t>
                      </a:r>
                      <a:b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 SOTA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测试集：50 CLI + 90 Terraform（不参与对齐）；对比 LocalStack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API 覆盖：CloudEmu=100%，LocalStack≈70%；L0/L1/L2 三层保真全面优于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自动合成模拟器优于人工开发 SOTA 工具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RQ2</a:t>
                      </a:r>
                      <a:b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消融实验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 个变体：D2C（直接生成）/ Index（索引图）/ SM（状态机）/ Full（完整）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D2C 仅 66% 覆盖；Index 解决上下文丢失；SM 补全格式逻辑；Full 达最优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三大组件缺一不可，且越靠后的状态指标越依赖完整方案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RQ3</a:t>
                      </a:r>
                      <a:b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开销评估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维度：时间、LLM Token、补丁代价、测试用例生成策略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完整合成 1.3h；前期随机用例可发现 2.5 倍不一致 bug；复杂场景交给 Agent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工程上具备可行性，随机用例性价比最高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RQ4</a:t>
                      </a:r>
                      <a:b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跨云泛化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仅修改数据层，流水线完全复用；迁移到 GCP Compute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Error-Class=95.6%、Resp.Fidelity=85.7%、State Consist=73.4%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框架跨云可移植，方法论通用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机会点：</a:t>
            </a:r>
            <a:r>
              <a:rPr lang="en-US" altLang="zh-CN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CloudEmu</a:t>
            </a:r>
            <a:r>
              <a:rPr 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 Cloud-Agent 的联系 ·</a:t>
            </a:r>
            <a:r>
              <a:rPr lang="en-US" sz="2800" b="1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区别</a:t>
            </a:r>
            <a:endParaRPr lang="en-US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5986" y="1538348"/>
            <a:ext cx="3146976" cy="977421"/>
          </a:xfrm>
          <a:prstGeom prst="roundRect">
            <a:avLst>
              <a:gd name="adj" fmla="val 750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3A506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0936" y="1665353"/>
            <a:ext cx="3092004" cy="26622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CloudEmu / LocalStack：纯 API 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0936" y="2046353"/>
            <a:ext cx="3092004" cy="36782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模拟云控制面 API；训练智能体的工具调用能力；无真实操作系统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1070" y="1855857"/>
            <a:ext cx="274749" cy="34242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917598" y="1538344"/>
            <a:ext cx="3512084" cy="977443"/>
          </a:xfrm>
          <a:prstGeom prst="roundRect">
            <a:avLst>
              <a:gd name="adj" fmla="val 7500"/>
            </a:avLst>
          </a:prstGeom>
          <a:solidFill>
            <a:srgbClr val="3A50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171598" y="1665344"/>
            <a:ext cx="3004084" cy="2662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Cloud-Agent：API 层 + Docker 沙箱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171598" y="2046344"/>
            <a:ext cx="3004084" cy="3678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集成云 API + 真实 OS 沙箱；训练工具调用 + 系统操作双重能力</a:t>
            </a:r>
            <a:endParaRPr lang="en-US" sz="1100"/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015986" y="2894444"/>
          <a:ext cx="7413625" cy="343471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11885"/>
                <a:gridCol w="3150870"/>
                <a:gridCol w="3150870"/>
              </a:tblGrid>
              <a:tr h="39497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调用接口能力（API 层）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操作系统操作能力（OS 沙箱）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动作本质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发送请求报文，接收结构化 JSON 响应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系统调用，直接修改文件、进程、socket 等 OS 实体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状态存放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远端服务/模拟器的数据库、内存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本机操作系统：文件系统、进程表、网络栈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97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执行载体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不需要真实操作系统，纯数据库即可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必须真实操作系统沙箱（Docker/KVM）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故障来源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API 参数错误、权限不足、资源依赖冲突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文件权限、端口监听错误、进程崩溃、软件报错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模拟成本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极低，数据库记录即可，毫秒级重置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高，需启动容器/虚拟机；管理文件、进程生命周期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典型动作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CreateEcs、ListEcs、调用 MCP 工具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apt install、systemctl start、echo &gt; index.html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 userDrawn="1"/>
        </p:nvSpPr>
        <p:spPr>
          <a:xfrm>
            <a:off x="9832340" y="3199130"/>
            <a:ext cx="309880" cy="306705"/>
          </a:xfrm>
          <a:prstGeom prst="rect">
            <a:avLst/>
          </a:prstGeom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Terminal-Bench </a:t>
            </a:r>
            <a:r>
              <a:rPr 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与 Cloud-Agent 的联系 ·</a:t>
            </a:r>
            <a:r>
              <a:rPr lang="en-US" sz="2800" b="1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区别</a:t>
            </a:r>
            <a:endParaRPr lang="en-US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32" y="1514954"/>
            <a:ext cx="2924619" cy="987812"/>
          </a:xfrm>
          <a:prstGeom prst="roundRect">
            <a:avLst>
              <a:gd name="adj" fmla="val 750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3A506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0982" y="1641959"/>
            <a:ext cx="2798417" cy="66106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4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Terminal-Bench：</a:t>
            </a:r>
            <a:r>
              <a:rPr lang="zh-CN" altLang="en-US" sz="14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终端命令行评测基准（数据集 + 评测框架）</a:t>
            </a:r>
            <a:endParaRPr lang="en-US" sz="1400" b="1" i="0" u="none" strike="noStrike">
              <a:solidFill>
                <a:srgbClr val="3A50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295411" y="1832484"/>
            <a:ext cx="10391" cy="35281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33721" y="1514924"/>
            <a:ext cx="2924619" cy="987812"/>
          </a:xfrm>
          <a:prstGeom prst="roundRect">
            <a:avLst>
              <a:gd name="adj" fmla="val 7500"/>
            </a:avLst>
          </a:prstGeom>
          <a:solidFill>
            <a:srgbClr val="3A50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888109" y="1773566"/>
            <a:ext cx="2458182" cy="47058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Cloud-Agent：API </a:t>
            </a:r>
            <a:r>
              <a:rPr lang="zh-CN" alt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层 + </a:t>
            </a:r>
            <a:r>
              <a:rPr lang="en-US" altLang="zh-CN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Docker </a:t>
            </a:r>
            <a:r>
              <a:rPr lang="zh-CN" alt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沙箱（云仿真平台）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016032" y="2864685"/>
          <a:ext cx="6541770" cy="242633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81710"/>
                <a:gridCol w="2780030"/>
                <a:gridCol w="2780030"/>
              </a:tblGrid>
              <a:tr h="39624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Terminal-Bench</a:t>
                      </a:r>
                      <a:endParaRPr lang="en-US" altLang="zh-CN" sz="11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Cloud-Agent</a:t>
                      </a:r>
                      <a:endParaRPr lang="en-US" altLang="zh-CN" sz="11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</a:tr>
              <a:tr h="50927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核心定位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评测基准 / 测试数据集（任务 + 评分规则）</a:t>
                      </a:r>
                      <a:endParaRPr lang="zh-CN" altLang="en-US" sz="1000" b="0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云服务器混合模拟器</a:t>
                      </a:r>
                      <a:endParaRPr lang="zh-CN" altLang="en-US" sz="1000" b="0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990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是否自带沙箱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无执行环境，需要外接沙箱来跑任务</a:t>
                      </a:r>
                      <a:endParaRPr lang="zh-CN" altLang="en-US" sz="1000" b="0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内置 </a:t>
                      </a:r>
                      <a:r>
                        <a:rPr lang="en-US" altLang="zh-CN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Docker </a:t>
                      </a: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真实操作系统沙箱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16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能力覆盖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仅聚焦</a:t>
                      </a:r>
                      <a:r>
                        <a:rPr lang="en-US" altLang="zh-CN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shell</a:t>
                      </a: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终端命令行任务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同时覆盖云 </a:t>
                      </a:r>
                      <a:r>
                        <a:rPr lang="en-US" altLang="zh-CN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API </a:t>
                      </a: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调用 + </a:t>
                      </a:r>
                      <a:r>
                        <a:rPr lang="en-US" altLang="zh-CN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Shell </a:t>
                      </a: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系统操作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927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动作本质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定义任务目标、校验命令执行结果，负责打分</a:t>
                      </a:r>
                      <a:endParaRPr lang="zh-CN" altLang="en-US" sz="1000" b="0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模拟云资源、承载 </a:t>
                      </a:r>
                      <a:r>
                        <a:rPr lang="en-US" altLang="zh-CN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shell </a:t>
                      </a: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命令，执行系统调用，修改文件 / 进程 / 网络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016032" y="5797798"/>
            <a:ext cx="7315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将 </a:t>
            </a:r>
            <a:r>
              <a:rPr lang="en-US" altLang="zh-CN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Terminal-Bench </a:t>
            </a:r>
            <a:r>
              <a:rPr lang="zh-CN" altLang="en-US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的任务集注入 </a:t>
            </a:r>
            <a:r>
              <a:rPr lang="en-US" altLang="zh-CN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Cloud-Agent </a:t>
            </a:r>
            <a:r>
              <a:rPr lang="zh-CN" altLang="en-US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 </a:t>
            </a:r>
            <a:r>
              <a:rPr lang="en-US" altLang="zh-CN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Docker </a:t>
            </a:r>
            <a:r>
              <a:rPr lang="zh-CN" altLang="en-US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沙箱中运行，检验 </a:t>
            </a:r>
            <a:r>
              <a:rPr lang="en-US" altLang="zh-CN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Cloud-Agent </a:t>
            </a:r>
            <a:r>
              <a:rPr lang="zh-CN" altLang="en-US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操作系统模拟层的有效性，同时评测 </a:t>
            </a:r>
            <a:r>
              <a:rPr lang="en-US" altLang="zh-CN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</a:t>
            </a:r>
            <a:r>
              <a:rPr lang="zh-CN" altLang="en-US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运维能力。</a:t>
            </a:r>
            <a:endParaRPr lang="zh-CN" altLang="en-US">
              <a:solidFill>
                <a:srgbClr val="3A50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Cloud-Agent 测评方法 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3970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三种测试方法的对比与对 Cloud-Agent 的参考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905000"/>
          <a:ext cx="10160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2286000"/>
                <a:gridCol w="2921000"/>
                <a:gridCol w="3556000"/>
              </a:tblGrid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来源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测试对象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核心方法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对我们的参考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Terminal-Bench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Docker 容器内 shell 终端 Agent 能力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89 个人工校验任务；Dockerfile + oracle 脚本 + pytest verifier；读容器真实状态判成败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反转用法测 OS 沙箱：真 KVM 跑 oracle 作真值 → 沙箱跑同一 verifier 比语义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CloudEmu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云 API 控制面仿真器保真度（无 OS）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神经符号状态机 + 真云 Oracle 对齐闭环；允许/禁止行为双对齐；差分 L0/L1/L2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上层 C01/C02 用同法造：文档摄取→状态机填洞→真云差分；错误码双对齐作判据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其他环境生成论文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通用工具(AWM)、Web(FACET)、游戏(AgenticGameDev)、逻辑(LogicEnvGen) 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各不相同：状态差分奖励、容器终端共享、TCTDD、CSP/决策树、引擎即真值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思想借鉴：AWM 状态差分、FACET 四件套同源、AgenticGameDev 双验证、Simia 脑补基线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1016000" y="45085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核心数据集：Terminal-Bench（共 89 个人工校验任务）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6000" y="4953000"/>
          <a:ext cx="10160000" cy="177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1016000"/>
                <a:gridCol w="7112000"/>
              </a:tblGrid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类别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 Cloud-Agent 模拟器测试的价值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系统管理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非常适合测 OS 模拟器：配置网络、常驻服务、Web 部署、进程管理、用户权限（类似 C03 博客部署）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调试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故障复现：程序报错、配置错误排查，适合做模拟器故障注入测试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软件工程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编译项目、改写程序、构建代码、单元测试（可作 Agent 能力测试）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其他类别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科学计算/安全/数据科学/文件操作等，可作 Agent 综合能力测试集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r>
              <a:rPr lang="en-US" sz="2800" b="1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</a:t>
            </a:r>
            <a:r>
              <a:rPr lang="en-US" sz="2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下一步工作计划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397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b="1">
                <a:solidFill>
                  <a:srgbClr val="5F7A94"/>
                </a:solidFill>
                <a:ea typeface="宋体" panose="02010600030101010101" pitchFamily="2" charset="-122"/>
              </a:rPr>
              <a:t>下一步计划</a:t>
            </a:r>
            <a:r>
              <a:rPr lang="zh-CN" altLang="en-US" sz="1300" b="1">
                <a:solidFill>
                  <a:srgbClr val="5F7A94"/>
                </a:solidFill>
                <a:cs typeface="Arial" panose="020B0604020202020204" pitchFamily="34" charset="0"/>
              </a:rPr>
              <a:t>：评估模拟器</a:t>
            </a:r>
            <a:endParaRPr lang="en-US">
              <a:cs typeface="Arial" panose="020B0604020202020204" pitchFamily="34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3048000" cy="889000"/>
          </a:xfrm>
          <a:prstGeom prst="roundRect">
            <a:avLst>
              <a:gd name="adj" fmla="val 8571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3A506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300" b="1">
                <a:solidFill>
                  <a:srgbClr val="3A506B"/>
                </a:solidFill>
              </a:rPr>
              <a:t>确定评估方法</a:t>
            </a:r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016000" y="2387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>
                <a:solidFill>
                  <a:srgbClr val="5F7A9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结合</a:t>
            </a:r>
            <a:r>
              <a:rPr lang="en-US" altLang="zh-CN" sz="1100">
                <a:solidFill>
                  <a:srgbClr val="5F7A9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cloudagent</a:t>
            </a:r>
            <a:r>
              <a:rPr lang="zh-CN" altLang="en-US" sz="1100">
                <a:solidFill>
                  <a:srgbClr val="5F7A9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的架构确定适配的评估方法</a:t>
            </a:r>
            <a:endParaRPr lang="en-US"/>
          </a:p>
        </p:txBody>
      </p:sp>
      <p:cxnSp>
        <p:nvCxnSpPr>
          <p:cNvPr id="8" name="Connector 8"/>
          <p:cNvCxnSpPr/>
          <p:nvPr/>
        </p:nvCxnSpPr>
        <p:spPr>
          <a:xfrm rot="-85925">
            <a:off x="4064079" y="2343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A506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/>
          <p:nvPr/>
        </p:nvSpPr>
        <p:spPr>
          <a:xfrm>
            <a:off x="4572000" y="1905000"/>
            <a:ext cx="3048000" cy="889000"/>
          </a:xfrm>
          <a:prstGeom prst="roundRect">
            <a:avLst>
              <a:gd name="adj" fmla="val 8571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3A506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72000" y="2032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300" b="1">
                <a:solidFill>
                  <a:srgbClr val="3A506B"/>
                </a:solidFill>
                <a:cs typeface="Arial" panose="020B0604020202020204" pitchFamily="34" charset="0"/>
              </a:rPr>
              <a:t>准备评估需要的数据</a:t>
            </a:r>
            <a:endParaRPr lang="en-US">
              <a:cs typeface="Arial" panose="020B0604020202020204" pitchFamily="3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572000" y="2387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5F7A94"/>
                </a:solidFill>
              </a:rPr>
              <a:t>下载测评所需要的数据集并进行调整</a:t>
            </a:r>
            <a:endParaRPr lang="en-US"/>
          </a:p>
        </p:txBody>
      </p:sp>
      <p:cxnSp>
        <p:nvCxnSpPr>
          <p:cNvPr id="12" name="Connector 12"/>
          <p:cNvCxnSpPr/>
          <p:nvPr/>
        </p:nvCxnSpPr>
        <p:spPr>
          <a:xfrm rot="-85925">
            <a:off x="7620079" y="2343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A506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8128000" y="1905000"/>
            <a:ext cx="3048000" cy="889000"/>
          </a:xfrm>
          <a:prstGeom prst="roundRect">
            <a:avLst>
              <a:gd name="adj" fmla="val 8571"/>
            </a:avLst>
          </a:prstGeom>
          <a:solidFill>
            <a:srgbClr val="3A50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2032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>
                <a:solidFill>
                  <a:srgbClr val="FFFFFF"/>
                </a:solidFill>
              </a:rPr>
              <a:t>评估</a:t>
            </a:r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128000" y="2387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>
                    <a:alpha val="85098"/>
                  </a:srgbClr>
                </a:solidFill>
              </a:rPr>
              <a:t>对</a:t>
            </a:r>
            <a:r>
              <a:rPr lang="en-US" sz="1100">
                <a:solidFill>
                  <a:srgbClr val="FFFFFF">
                    <a:alpha val="85098"/>
                  </a:srgbClr>
                </a:solidFill>
              </a:rPr>
              <a:t>cloud</a:t>
            </a:r>
            <a:r>
              <a:rPr lang="en-US" altLang="zh-CN" sz="1100">
                <a:solidFill>
                  <a:srgbClr val="FFFFFF">
                    <a:alpha val="85098"/>
                  </a:srgbClr>
                </a:solidFill>
              </a:rPr>
              <a:t>agent</a:t>
            </a:r>
            <a:r>
              <a:rPr lang="zh-CN" altLang="en-US" sz="1100">
                <a:solidFill>
                  <a:srgbClr val="FFFFFF">
                    <a:alpha val="85098"/>
                  </a:srgbClr>
                </a:solidFill>
              </a:rPr>
              <a:t>进行测试、产出报告</a:t>
            </a:r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022985" y="286512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总结机会点</a:t>
            </a:r>
            <a:endParaRPr lang="zh-CN" altLang="en-US" sz="1500" b="1" i="0" u="none" strike="noStrike">
              <a:solidFill>
                <a:srgbClr val="3A50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17" name="Table 1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22985" y="3267075"/>
          <a:ext cx="9754235" cy="214693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12800"/>
                <a:gridCol w="2263140"/>
                <a:gridCol w="6678295"/>
              </a:tblGrid>
              <a:tr h="4000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序号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机会点</a:t>
                      </a:r>
                      <a:endParaRPr lang="zh-CN" altLang="en-US" sz="11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具体内容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506B">
                        <a:alpha val="100000"/>
                      </a:srgbClr>
                    </a:solidFill>
                  </a:tcPr>
                </a:tc>
              </a:tr>
              <a:tr h="58547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cloudagent</a:t>
                      </a: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论文</a:t>
                      </a:r>
                      <a:endParaRPr lang="zh-CN" altLang="en-US" sz="1000" b="0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根据我调研的论文与大模型的反馈，目前云模拟器的论文很少，而直接将</a:t>
                      </a:r>
                      <a:r>
                        <a:rPr lang="en-US" altLang="zh-CN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API</a:t>
                      </a: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层与沙箱直接搭建的更是没有，所以我认为这是我们的机会点。</a:t>
                      </a:r>
                      <a:endParaRPr lang="zh-CN" altLang="en-US" sz="1000" b="0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610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API-</a:t>
                      </a: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沙箱的端到端模拟器测评法</a:t>
                      </a:r>
                      <a:endParaRPr lang="zh-CN" altLang="en-US" sz="1000" b="0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既然有模拟器方法，就有测评模拟器方法，而且我认为这种端到端的测评将会是智能体评估趋势。因为这能保持数据的一致性。</a:t>
                      </a:r>
                      <a:endParaRPr lang="zh-CN" altLang="en-US" sz="1000" b="0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531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A50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方法集合综述</a:t>
                      </a:r>
                      <a:endParaRPr lang="zh-CN" altLang="en-US" sz="1000" b="0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在我调研的论文中，我将它们分为了四类，这提供了一种解决智能体训练流程中出现问题的思路与方法集合，或许这可以写一篇综述，总结范式与方法。</a:t>
                      </a:r>
                      <a:endParaRPr lang="zh-CN" altLang="en-US" sz="1000" b="0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AutoShape 16"/>
          <p:cNvSpPr/>
          <p:nvPr/>
        </p:nvSpPr>
        <p:spPr>
          <a:xfrm>
            <a:off x="1022985" y="612521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参考文献：</a:t>
            </a:r>
            <a:endParaRPr lang="zh-CN" altLang="en-US" sz="1500" b="1" i="0" u="none" strike="noStrike">
              <a:solidFill>
                <a:srgbClr val="3A50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0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[1] Merrill M A, et al. Terminal-Bench: Benchmarking Agents on Hard, Realistic Tasks in Command-Line Interfaces[J]. arXiv preprint arXiv:2601.11868, 2026.</a:t>
            </a:r>
            <a:endParaRPr lang="en-US" altLang="zh-CN" sz="1000" b="1" i="0" u="none" strike="noStrike">
              <a:solidFill>
                <a:srgbClr val="3A50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0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[2] Bhatnagar A, et al. Automated Synthesis of Cloud Emulators[J]. arXiv preprint arXiv:2608.23842, 2026.</a:t>
            </a:r>
            <a:endParaRPr lang="en-US" altLang="zh-CN" sz="1000" b="1" i="0" u="none" strike="noStrike">
              <a:solidFill>
                <a:srgbClr val="3A50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</a:t>
            </a:r>
            <a:r>
              <a:rPr lang="zh-CN" altLang="en-US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主页：</a:t>
            </a:r>
            <a:endParaRPr lang="zh-CN" altLang="en-US" b="1" i="0" u="none" strike="noStrike">
              <a:solidFill>
                <a:srgbClr val="3A50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0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https://github.com/runlin1113/student_project_II</a:t>
            </a:r>
            <a:endParaRPr lang="en-US" altLang="zh-CN" b="1" i="0" u="none" strike="noStrike">
              <a:solidFill>
                <a:srgbClr val="3A50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zh-CN" altLang="en-US" b="1" i="0" u="none" strike="noStrike">
              <a:solidFill>
                <a:srgbClr val="3A50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3A50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A50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5461032" y="3930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A50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43180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欢迎提问与交流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334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凌润林 · 深圳技术大学人工智能学院 · 2026 年 9 月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68*169"/>
  <p:tag name="TABLE_ENDDRAG_RECT" val="80*270*768*169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5404</Words>
  <Application>WPS 演示</Application>
  <PresentationFormat/>
  <Paragraphs>530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山茶</cp:lastModifiedBy>
  <cp:revision>5</cp:revision>
  <dcterms:created xsi:type="dcterms:W3CDTF">2026-09-28T16:02:02Z</dcterms:created>
  <dcterms:modified xsi:type="dcterms:W3CDTF">2026-09-28T16:49:23Z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{"Label":"1","ContentProducer":"001191110102MACQD9K64010000","ProduceID":"7690264085217660090","ReservedCode1":"","ContentPropagator":"","PropagateID":"","ReservedCode2":""}</vt:lpwstr>
  </property>
  <property fmtid="{D5CDD505-2E9C-101B-9397-08002B2CF9AE}" pid="3" name="ICV">
    <vt:lpwstr>C0ADDEFDA42E461F9BAD60D0A73BDAD1_13</vt:lpwstr>
  </property>
  <property fmtid="{D5CDD505-2E9C-101B-9397-08002B2CF9AE}" pid="4" name="KSOProductBuildVer">
    <vt:lpwstr>2052-12.1.0.28505</vt:lpwstr>
  </property>
</Properties>
</file>